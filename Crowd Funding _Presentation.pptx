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51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9997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[morning/afternoon]. My project is EduChain — a Solidity smart contract that crowdfunds the production of free online courses, with automatic refunds if the goal is not met. I will walk you through the problem, solution, contract design, security, and a live test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Online education is dominated by expensive, gated platforms. Creators have no guarantee their funding efforts succeed, and donors have no visibility into how money is used. EduChain solves all three problems using a transparent, self-executing smart contract.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EduChain replaces the middleman with a smart contract. Contributors send ETH, get automatic tier rewards, and either fund the course — or get a guaranteed refund. No trust required, no manual processing.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contract implements all four required Solidity constructs. The struct bundles contributor data, the mapping provides fast lookup, three modifiers enforce timing and ownership, and four events give off-chain tools a clean data stream.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workflow is a strict 4-step lifecycle. Deploy sets the goal and deadline. Contributions flow in while the campaign is active. After the deadline, the contract settles in one of two ways — withdrawal if the goal was met, or full refunds if it was not.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key security properties were implemented. CEI pattern prevents reentrancy — state is always updated before ETH is sent. require() blocks invalid inputs at every function. Immutable owner prevents unauthorized access. And I've noted how Chainlink could further strengthen this in production.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ran 11 test cases in total across all functions — covering valid contributions, invalid inputs, and edge cases like double refund and unauthorized withdrawal. Every single test produced the expected result, as shown 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summarize — EduChain implements every required course construct, passes all test cases, and demonstrates two key security patterns. Future work includes Chainlink integrations to make the contract production-ready. Thank you —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C7293"/>
          </a:solidFill>
          <a:ln/>
        </p:spPr>
      </p:sp>
      <p:sp>
        <p:nvSpPr>
          <p:cNvPr id="3" name="Shape 1"/>
          <p:cNvSpPr/>
          <p:nvPr/>
        </p:nvSpPr>
        <p:spPr>
          <a:xfrm>
            <a:off x="7772400" y="365760"/>
            <a:ext cx="1097280" cy="1097280"/>
          </a:xfrm>
          <a:prstGeom prst="ellipse">
            <a:avLst/>
          </a:prstGeom>
          <a:solidFill>
            <a:srgbClr val="1C7293">
              <a:alpha val="20000"/>
            </a:srgbClr>
          </a:solidFill>
          <a:ln w="12700">
            <a:solidFill>
              <a:srgbClr val="1C7293"/>
            </a:solidFill>
            <a:prstDash val="solid"/>
          </a:ln>
        </p:spPr>
      </p:sp>
      <p:sp>
        <p:nvSpPr>
          <p:cNvPr id="4" name="Shape 2"/>
          <p:cNvSpPr/>
          <p:nvPr/>
        </p:nvSpPr>
        <p:spPr>
          <a:xfrm>
            <a:off x="8686800" y="1097280"/>
            <a:ext cx="731520" cy="731520"/>
          </a:xfrm>
          <a:prstGeom prst="ellipse">
            <a:avLst/>
          </a:prstGeom>
          <a:solidFill>
            <a:srgbClr val="1C7293">
              <a:alpha val="20000"/>
            </a:srgbClr>
          </a:solidFill>
          <a:ln w="12700">
            <a:solidFill>
              <a:srgbClr val="1C7293"/>
            </a:solidFill>
            <a:prstDash val="solid"/>
          </a:ln>
        </p:spPr>
      </p:sp>
      <p:sp>
        <p:nvSpPr>
          <p:cNvPr id="5" name="Shape 3"/>
          <p:cNvSpPr/>
          <p:nvPr/>
        </p:nvSpPr>
        <p:spPr>
          <a:xfrm>
            <a:off x="7315200" y="1828800"/>
            <a:ext cx="457200" cy="457200"/>
          </a:xfrm>
          <a:prstGeom prst="ellipse">
            <a:avLst/>
          </a:prstGeom>
          <a:solidFill>
            <a:srgbClr val="1C7293">
              <a:alpha val="20000"/>
            </a:srgbClr>
          </a:solidFill>
          <a:ln w="12700">
            <a:solidFill>
              <a:srgbClr val="1C7293"/>
            </a:solidFill>
            <a:prstDash val="solid"/>
          </a:ln>
        </p:spPr>
      </p:sp>
      <p:sp>
        <p:nvSpPr>
          <p:cNvPr id="6" name="Shape 4"/>
          <p:cNvSpPr/>
          <p:nvPr/>
        </p:nvSpPr>
        <p:spPr>
          <a:xfrm>
            <a:off x="8412480" y="2560320"/>
            <a:ext cx="914400" cy="914400"/>
          </a:xfrm>
          <a:prstGeom prst="ellipse">
            <a:avLst/>
          </a:prstGeom>
          <a:solidFill>
            <a:srgbClr val="1C7293">
              <a:alpha val="20000"/>
            </a:srgbClr>
          </a:solidFill>
          <a:ln w="12700">
            <a:solidFill>
              <a:srgbClr val="1C7293"/>
            </a:solidFill>
            <a:prstDash val="solid"/>
          </a:ln>
        </p:spPr>
      </p:sp>
      <p:sp>
        <p:nvSpPr>
          <p:cNvPr id="7" name="Shape 5"/>
          <p:cNvSpPr/>
          <p:nvPr/>
        </p:nvSpPr>
        <p:spPr>
          <a:xfrm>
            <a:off x="7863840" y="3474720"/>
            <a:ext cx="640080" cy="640080"/>
          </a:xfrm>
          <a:prstGeom prst="ellipse">
            <a:avLst/>
          </a:prstGeom>
          <a:solidFill>
            <a:srgbClr val="1C7293">
              <a:alpha val="20000"/>
            </a:srgbClr>
          </a:solidFill>
          <a:ln w="12700">
            <a:solidFill>
              <a:srgbClr val="1C7293"/>
            </a:solidFill>
            <a:prstDash val="solid"/>
          </a:ln>
        </p:spPr>
      </p:sp>
      <p:sp>
        <p:nvSpPr>
          <p:cNvPr id="8" name="Shape 6"/>
          <p:cNvSpPr/>
          <p:nvPr/>
        </p:nvSpPr>
        <p:spPr>
          <a:xfrm>
            <a:off x="8869680" y="274320"/>
            <a:ext cx="365760" cy="365760"/>
          </a:xfrm>
          <a:prstGeom prst="ellipse">
            <a:avLst/>
          </a:prstGeom>
          <a:solidFill>
            <a:srgbClr val="1C7293">
              <a:alpha val="20000"/>
            </a:srgbClr>
          </a:solidFill>
          <a:ln w="12700">
            <a:solidFill>
              <a:srgbClr val="1C7293"/>
            </a:solidFill>
            <a:prstDash val="solid"/>
          </a:ln>
        </p:spPr>
      </p:sp>
      <p:sp>
        <p:nvSpPr>
          <p:cNvPr id="9" name="Text 7"/>
          <p:cNvSpPr/>
          <p:nvPr/>
        </p:nvSpPr>
        <p:spPr>
          <a:xfrm>
            <a:off x="457200" y="731520"/>
            <a:ext cx="7315200" cy="1097280"/>
          </a:xfrm>
          <a:prstGeom prst="rect">
            <a:avLst/>
          </a:prstGeom>
          <a:noFill/>
          <a:ln/>
        </p:spPr>
        <p:txBody>
          <a:bodyPr wrap="square" lIns="0" tIns="0" rIns="0" bIns="0"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EduChain</a:t>
            </a:r>
            <a:endParaRPr lang="en-US" sz="5200" dirty="0"/>
          </a:p>
        </p:txBody>
      </p:sp>
      <p:sp>
        <p:nvSpPr>
          <p:cNvPr id="10" name="Text 8"/>
          <p:cNvSpPr/>
          <p:nvPr/>
        </p:nvSpPr>
        <p:spPr>
          <a:xfrm>
            <a:off x="457200" y="1737360"/>
            <a:ext cx="7772400" cy="640080"/>
          </a:xfrm>
          <a:prstGeom prst="rect">
            <a:avLst/>
          </a:prstGeom>
          <a:noFill/>
          <a:ln/>
        </p:spPr>
        <p:txBody>
          <a:bodyPr wrap="square" lIns="0" tIns="0" rIns="0" bIns="0" rtlCol="0" anchor="ctr"/>
          <a:lstStyle/>
          <a:p>
            <a:pPr marL="0" indent="0">
              <a:buNone/>
            </a:pPr>
            <a:r>
              <a:rPr lang="en-US" sz="2600" dirty="0">
                <a:solidFill>
                  <a:srgbClr val="21A0C1"/>
                </a:solidFill>
                <a:latin typeface="Calibri" pitchFamily="34" charset="0"/>
                <a:ea typeface="Calibri" pitchFamily="34" charset="-122"/>
                <a:cs typeface="Calibri" pitchFamily="34" charset="-120"/>
              </a:rPr>
              <a:t>Crowdfunding Smart Contract</a:t>
            </a:r>
            <a:endParaRPr lang="en-US" sz="2600" dirty="0"/>
          </a:p>
        </p:txBody>
      </p:sp>
      <p:sp>
        <p:nvSpPr>
          <p:cNvPr id="11" name="Shape 9"/>
          <p:cNvSpPr/>
          <p:nvPr/>
        </p:nvSpPr>
        <p:spPr>
          <a:xfrm>
            <a:off x="457200" y="2514600"/>
            <a:ext cx="5943600" cy="0"/>
          </a:xfrm>
          <a:prstGeom prst="line">
            <a:avLst/>
          </a:prstGeom>
          <a:noFill/>
          <a:ln w="25400">
            <a:solidFill>
              <a:srgbClr val="1C7293"/>
            </a:solidFill>
            <a:prstDash val="solid"/>
          </a:ln>
        </p:spPr>
      </p:sp>
      <p:sp>
        <p:nvSpPr>
          <p:cNvPr id="12" name="Text 10"/>
          <p:cNvSpPr/>
          <p:nvPr/>
        </p:nvSpPr>
        <p:spPr>
          <a:xfrm>
            <a:off x="457200" y="2697480"/>
            <a:ext cx="7772400" cy="731520"/>
          </a:xfrm>
          <a:prstGeom prst="rect">
            <a:avLst/>
          </a:prstGeom>
          <a:noFill/>
          <a:ln/>
        </p:spPr>
        <p:txBody>
          <a:bodyPr wrap="square" rtlCol="0" anchor="ctr"/>
          <a:lstStyle/>
          <a:p>
            <a:pPr marL="0" indent="0">
              <a:buNone/>
            </a:pPr>
            <a:r>
              <a:rPr lang="en-US" sz="1400" dirty="0" smtClean="0">
                <a:solidFill>
                  <a:srgbClr val="8899AA"/>
                </a:solidFill>
                <a:latin typeface="Calibri" pitchFamily="34" charset="0"/>
                <a:ea typeface="Calibri" pitchFamily="34" charset="-122"/>
                <a:cs typeface="Calibri" pitchFamily="34" charset="-120"/>
              </a:rPr>
              <a:t>Solidity 0.8.20  |  Remix IDE - Shanghai  |  </a:t>
            </a:r>
            <a:r>
              <a:rPr lang="en-US" sz="1400" dirty="0" err="1" smtClean="0">
                <a:solidFill>
                  <a:srgbClr val="8899AA"/>
                </a:solidFill>
                <a:latin typeface="Calibri" pitchFamily="34" charset="0"/>
                <a:ea typeface="Calibri" pitchFamily="34" charset="-122"/>
                <a:cs typeface="Calibri" pitchFamily="34" charset="-120"/>
              </a:rPr>
              <a:t>Ethereum</a:t>
            </a:r>
            <a:r>
              <a:rPr lang="en-US" sz="1400" dirty="0" smtClean="0">
                <a:solidFill>
                  <a:srgbClr val="8899AA"/>
                </a:solidFill>
                <a:latin typeface="Calibri" pitchFamily="34" charset="0"/>
                <a:ea typeface="Calibri" pitchFamily="34" charset="-122"/>
                <a:cs typeface="Calibri" pitchFamily="34" charset="-120"/>
              </a:rPr>
              <a:t> </a:t>
            </a:r>
            <a:r>
              <a:rPr lang="en-US" sz="1400" dirty="0" err="1" smtClean="0">
                <a:solidFill>
                  <a:srgbClr val="8899AA"/>
                </a:solidFill>
                <a:latin typeface="Calibri" pitchFamily="34" charset="0"/>
                <a:ea typeface="Calibri" pitchFamily="34" charset="-122"/>
                <a:cs typeface="Calibri" pitchFamily="34" charset="-120"/>
              </a:rPr>
              <a:t>Blockchain</a:t>
            </a:r>
            <a:endParaRPr lang="en-US" sz="1400" dirty="0" smtClean="0"/>
          </a:p>
          <a:p>
            <a:pPr marL="0" indent="0">
              <a:buNone/>
            </a:pPr>
            <a:r>
              <a:rPr lang="en-US" sz="1400" dirty="0" err="1" smtClean="0">
                <a:solidFill>
                  <a:srgbClr val="8899AA"/>
                </a:solidFill>
                <a:latin typeface="Calibri" pitchFamily="34" charset="0"/>
                <a:ea typeface="Calibri" pitchFamily="34" charset="-122"/>
                <a:cs typeface="Calibri" pitchFamily="34" charset="-120"/>
              </a:rPr>
              <a:t>Blockchain</a:t>
            </a:r>
            <a:r>
              <a:rPr lang="en-US" sz="1400" dirty="0" smtClean="0">
                <a:solidFill>
                  <a:srgbClr val="8899AA"/>
                </a:solidFill>
                <a:latin typeface="Calibri" pitchFamily="34" charset="0"/>
                <a:ea typeface="Calibri" pitchFamily="34" charset="-122"/>
                <a:cs typeface="Calibri" pitchFamily="34" charset="-120"/>
              </a:rPr>
              <a:t> Development Course  Presented By Ahmed </a:t>
            </a:r>
            <a:r>
              <a:rPr lang="en-US" sz="1400" dirty="0" err="1" smtClean="0">
                <a:solidFill>
                  <a:srgbClr val="8899AA"/>
                </a:solidFill>
                <a:latin typeface="Calibri" pitchFamily="34" charset="0"/>
                <a:ea typeface="Calibri" pitchFamily="34" charset="-122"/>
                <a:cs typeface="Calibri" pitchFamily="34" charset="-120"/>
              </a:rPr>
              <a:t>ElSabagh</a:t>
            </a:r>
            <a:endParaRPr lang="en-US" sz="1400" dirty="0"/>
          </a:p>
        </p:txBody>
      </p:sp>
      <p:sp>
        <p:nvSpPr>
          <p:cNvPr id="13" name="Shape 11"/>
          <p:cNvSpPr/>
          <p:nvPr/>
        </p:nvSpPr>
        <p:spPr>
          <a:xfrm>
            <a:off x="457200" y="3840480"/>
            <a:ext cx="1554480" cy="384048"/>
          </a:xfrm>
          <a:prstGeom prst="roundRect">
            <a:avLst>
              <a:gd name="adj" fmla="val 28571"/>
            </a:avLst>
          </a:prstGeom>
          <a:solidFill>
            <a:srgbClr val="065A82"/>
          </a:solidFill>
          <a:ln/>
        </p:spPr>
      </p:sp>
      <p:sp>
        <p:nvSpPr>
          <p:cNvPr id="14" name="Text 12"/>
          <p:cNvSpPr/>
          <p:nvPr/>
        </p:nvSpPr>
        <p:spPr>
          <a:xfrm>
            <a:off x="457200" y="3840480"/>
            <a:ext cx="15544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struct</a:t>
            </a:r>
            <a:endParaRPr lang="en-US" sz="1100" dirty="0"/>
          </a:p>
        </p:txBody>
      </p:sp>
      <p:sp>
        <p:nvSpPr>
          <p:cNvPr id="15" name="Shape 13"/>
          <p:cNvSpPr/>
          <p:nvPr/>
        </p:nvSpPr>
        <p:spPr>
          <a:xfrm>
            <a:off x="2176272" y="3840480"/>
            <a:ext cx="1554480" cy="384048"/>
          </a:xfrm>
          <a:prstGeom prst="roundRect">
            <a:avLst>
              <a:gd name="adj" fmla="val 28571"/>
            </a:avLst>
          </a:prstGeom>
          <a:solidFill>
            <a:srgbClr val="065A82"/>
          </a:solidFill>
          <a:ln/>
        </p:spPr>
      </p:sp>
      <p:sp>
        <p:nvSpPr>
          <p:cNvPr id="16" name="Text 14"/>
          <p:cNvSpPr/>
          <p:nvPr/>
        </p:nvSpPr>
        <p:spPr>
          <a:xfrm>
            <a:off x="2176272" y="3840480"/>
            <a:ext cx="15544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mapping</a:t>
            </a:r>
            <a:endParaRPr lang="en-US" sz="1100" dirty="0"/>
          </a:p>
        </p:txBody>
      </p:sp>
      <p:sp>
        <p:nvSpPr>
          <p:cNvPr id="17" name="Shape 15"/>
          <p:cNvSpPr/>
          <p:nvPr/>
        </p:nvSpPr>
        <p:spPr>
          <a:xfrm>
            <a:off x="3895344" y="3840480"/>
            <a:ext cx="1554480" cy="384048"/>
          </a:xfrm>
          <a:prstGeom prst="roundRect">
            <a:avLst>
              <a:gd name="adj" fmla="val 28571"/>
            </a:avLst>
          </a:prstGeom>
          <a:solidFill>
            <a:srgbClr val="065A82"/>
          </a:solidFill>
          <a:ln/>
        </p:spPr>
      </p:sp>
      <p:sp>
        <p:nvSpPr>
          <p:cNvPr id="18" name="Text 16"/>
          <p:cNvSpPr/>
          <p:nvPr/>
        </p:nvSpPr>
        <p:spPr>
          <a:xfrm>
            <a:off x="3895344" y="3840480"/>
            <a:ext cx="15544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modifier</a:t>
            </a:r>
            <a:endParaRPr lang="en-US" sz="1100" dirty="0"/>
          </a:p>
        </p:txBody>
      </p:sp>
      <p:sp>
        <p:nvSpPr>
          <p:cNvPr id="19" name="Shape 17"/>
          <p:cNvSpPr/>
          <p:nvPr/>
        </p:nvSpPr>
        <p:spPr>
          <a:xfrm>
            <a:off x="5614416" y="3840480"/>
            <a:ext cx="1554480" cy="384048"/>
          </a:xfrm>
          <a:prstGeom prst="roundRect">
            <a:avLst>
              <a:gd name="adj" fmla="val 28571"/>
            </a:avLst>
          </a:prstGeom>
          <a:solidFill>
            <a:srgbClr val="065A82"/>
          </a:solidFill>
          <a:ln/>
        </p:spPr>
      </p:sp>
      <p:sp>
        <p:nvSpPr>
          <p:cNvPr id="20" name="Text 18"/>
          <p:cNvSpPr/>
          <p:nvPr/>
        </p:nvSpPr>
        <p:spPr>
          <a:xfrm>
            <a:off x="5614416" y="3840480"/>
            <a:ext cx="15544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events</a:t>
            </a:r>
            <a:endParaRPr lang="en-US" sz="1100" dirty="0"/>
          </a:p>
        </p:txBody>
      </p:sp>
      <p:sp>
        <p:nvSpPr>
          <p:cNvPr id="21" name="Shape 19"/>
          <p:cNvSpPr/>
          <p:nvPr/>
        </p:nvSpPr>
        <p:spPr>
          <a:xfrm>
            <a:off x="7333488" y="3840480"/>
            <a:ext cx="1554480" cy="384048"/>
          </a:xfrm>
          <a:prstGeom prst="roundRect">
            <a:avLst>
              <a:gd name="adj" fmla="val 28571"/>
            </a:avLst>
          </a:prstGeom>
          <a:solidFill>
            <a:srgbClr val="065A82"/>
          </a:solidFill>
          <a:ln/>
        </p:spPr>
      </p:sp>
      <p:sp>
        <p:nvSpPr>
          <p:cNvPr id="22" name="Text 20"/>
          <p:cNvSpPr/>
          <p:nvPr/>
        </p:nvSpPr>
        <p:spPr>
          <a:xfrm>
            <a:off x="7333488" y="3840480"/>
            <a:ext cx="15544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Tiered Rewards</a:t>
            </a:r>
            <a:endParaRPr lang="en-US" sz="1100" dirty="0"/>
          </a:p>
        </p:txBody>
      </p:sp>
      <p:pic>
        <p:nvPicPr>
          <p:cNvPr id="25" name="Picture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7456" y="-67040"/>
            <a:ext cx="1962879" cy="1962879"/>
          </a:xfrm>
          <a:prstGeom prst="rect">
            <a:avLst/>
          </a:prstGeom>
        </p:spPr>
      </p:pic>
      <p:pic>
        <p:nvPicPr>
          <p:cNvPr id="26" name="Picture 2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5013" y="125730"/>
            <a:ext cx="1330838" cy="15773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65760" y="0"/>
            <a:ext cx="8229600" cy="7772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Problem</a:t>
            </a:r>
            <a:endParaRPr lang="en-US" sz="2800" dirty="0"/>
          </a:p>
        </p:txBody>
      </p:sp>
      <p:sp>
        <p:nvSpPr>
          <p:cNvPr id="4" name="Shape 2"/>
          <p:cNvSpPr/>
          <p:nvPr/>
        </p:nvSpPr>
        <p:spPr>
          <a:xfrm>
            <a:off x="365760" y="1005840"/>
            <a:ext cx="2651760" cy="3474720"/>
          </a:xfrm>
          <a:prstGeom prst="rect">
            <a:avLst/>
          </a:prstGeom>
          <a:solidFill>
            <a:srgbClr val="E8F4F8"/>
          </a:solidFill>
          <a:ln/>
          <a:effectLst>
            <a:outerShdw blurRad="101600" dist="38100" dir="8100000" algn="bl" rotWithShape="0">
              <a:srgbClr val="000000">
                <a:alpha val="18000"/>
              </a:srgbClr>
            </a:outerShdw>
          </a:effectLst>
        </p:spPr>
      </p:sp>
      <p:sp>
        <p:nvSpPr>
          <p:cNvPr id="5" name="Shape 3"/>
          <p:cNvSpPr/>
          <p:nvPr/>
        </p:nvSpPr>
        <p:spPr>
          <a:xfrm>
            <a:off x="365760" y="1005840"/>
            <a:ext cx="2651760" cy="109728"/>
          </a:xfrm>
          <a:prstGeom prst="rect">
            <a:avLst/>
          </a:prstGeom>
          <a:solidFill>
            <a:srgbClr val="1C7293"/>
          </a:solidFill>
          <a:ln/>
        </p:spPr>
      </p:sp>
      <p:sp>
        <p:nvSpPr>
          <p:cNvPr id="6" name="Text 4"/>
          <p:cNvSpPr/>
          <p:nvPr/>
        </p:nvSpPr>
        <p:spPr>
          <a:xfrm>
            <a:off x="365760" y="1234440"/>
            <a:ext cx="2651760" cy="640080"/>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7" name="Text 5"/>
          <p:cNvSpPr/>
          <p:nvPr/>
        </p:nvSpPr>
        <p:spPr>
          <a:xfrm>
            <a:off x="457200" y="1920240"/>
            <a:ext cx="2468880" cy="457200"/>
          </a:xfrm>
          <a:prstGeom prst="rect">
            <a:avLst/>
          </a:prstGeom>
          <a:noFill/>
          <a:ln/>
        </p:spPr>
        <p:txBody>
          <a:bodyPr wrap="square" lIns="0" tIns="0" rIns="0" bIns="0" rtlCol="0" anchor="ctr"/>
          <a:lstStyle/>
          <a:p>
            <a:pPr marL="0" indent="0" algn="ctr">
              <a:buNone/>
            </a:pPr>
            <a:r>
              <a:rPr lang="en-US" sz="1600" b="1" dirty="0">
                <a:solidFill>
                  <a:srgbClr val="0D1B2A"/>
                </a:solidFill>
                <a:latin typeface="Calibri" pitchFamily="34" charset="0"/>
                <a:ea typeface="Calibri" pitchFamily="34" charset="-122"/>
                <a:cs typeface="Calibri" pitchFamily="34" charset="-120"/>
              </a:rPr>
              <a:t>High Cost</a:t>
            </a:r>
            <a:endParaRPr lang="en-US" sz="1600" dirty="0"/>
          </a:p>
        </p:txBody>
      </p:sp>
      <p:sp>
        <p:nvSpPr>
          <p:cNvPr id="8" name="Text 6"/>
          <p:cNvSpPr/>
          <p:nvPr/>
        </p:nvSpPr>
        <p:spPr>
          <a:xfrm>
            <a:off x="502920" y="2423160"/>
            <a:ext cx="2377440" cy="1828800"/>
          </a:xfrm>
          <a:prstGeom prst="rect">
            <a:avLst/>
          </a:prstGeom>
          <a:noFill/>
          <a:ln/>
        </p:spPr>
        <p:txBody>
          <a:bodyPr wrap="square" rtlCol="0" anchor="ctr"/>
          <a:lstStyle/>
          <a:p>
            <a:pPr marL="0" indent="0" algn="ctr">
              <a:buNone/>
            </a:pPr>
            <a:r>
              <a:rPr lang="en-US" sz="1200" dirty="0">
                <a:solidFill>
                  <a:srgbClr val="8899AA"/>
                </a:solidFill>
                <a:latin typeface="Calibri" pitchFamily="34" charset="0"/>
                <a:ea typeface="Calibri" pitchFamily="34" charset="-122"/>
                <a:cs typeface="Calibri" pitchFamily="34" charset="-120"/>
              </a:rPr>
              <a:t>Quality online courses cost hundreds of dollars, making education inaccessible for many learners.</a:t>
            </a:r>
            <a:endParaRPr lang="en-US" sz="1200" dirty="0"/>
          </a:p>
        </p:txBody>
      </p:sp>
      <p:sp>
        <p:nvSpPr>
          <p:cNvPr id="9" name="Shape 7"/>
          <p:cNvSpPr/>
          <p:nvPr/>
        </p:nvSpPr>
        <p:spPr>
          <a:xfrm>
            <a:off x="3291840" y="1005840"/>
            <a:ext cx="2651760" cy="3474720"/>
          </a:xfrm>
          <a:prstGeom prst="rect">
            <a:avLst/>
          </a:prstGeom>
          <a:solidFill>
            <a:srgbClr val="E8F4F8"/>
          </a:solidFill>
          <a:ln/>
          <a:effectLst>
            <a:outerShdw blurRad="101600" dist="38100" dir="8100000" algn="bl" rotWithShape="0">
              <a:srgbClr val="000000">
                <a:alpha val="18000"/>
              </a:srgbClr>
            </a:outerShdw>
          </a:effectLst>
        </p:spPr>
      </p:sp>
      <p:sp>
        <p:nvSpPr>
          <p:cNvPr id="10" name="Shape 8"/>
          <p:cNvSpPr/>
          <p:nvPr/>
        </p:nvSpPr>
        <p:spPr>
          <a:xfrm>
            <a:off x="3291840" y="1005840"/>
            <a:ext cx="2651760" cy="109728"/>
          </a:xfrm>
          <a:prstGeom prst="rect">
            <a:avLst/>
          </a:prstGeom>
          <a:solidFill>
            <a:srgbClr val="1C7293"/>
          </a:solidFill>
          <a:ln/>
        </p:spPr>
      </p:sp>
      <p:sp>
        <p:nvSpPr>
          <p:cNvPr id="11" name="Text 9"/>
          <p:cNvSpPr/>
          <p:nvPr/>
        </p:nvSpPr>
        <p:spPr>
          <a:xfrm>
            <a:off x="3291840" y="1234440"/>
            <a:ext cx="2651760" cy="640080"/>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12" name="Text 10"/>
          <p:cNvSpPr/>
          <p:nvPr/>
        </p:nvSpPr>
        <p:spPr>
          <a:xfrm>
            <a:off x="3383280" y="1920240"/>
            <a:ext cx="2468880" cy="457200"/>
          </a:xfrm>
          <a:prstGeom prst="rect">
            <a:avLst/>
          </a:prstGeom>
          <a:noFill/>
          <a:ln/>
        </p:spPr>
        <p:txBody>
          <a:bodyPr wrap="square" lIns="0" tIns="0" rIns="0" bIns="0" rtlCol="0" anchor="ctr"/>
          <a:lstStyle/>
          <a:p>
            <a:pPr marL="0" indent="0" algn="ctr">
              <a:buNone/>
            </a:pPr>
            <a:r>
              <a:rPr lang="en-US" sz="1600" b="1" dirty="0">
                <a:solidFill>
                  <a:srgbClr val="0D1B2A"/>
                </a:solidFill>
                <a:latin typeface="Calibri" pitchFamily="34" charset="0"/>
                <a:ea typeface="Calibri" pitchFamily="34" charset="-122"/>
                <a:cs typeface="Calibri" pitchFamily="34" charset="-120"/>
              </a:rPr>
              <a:t>Centralized Control</a:t>
            </a:r>
            <a:endParaRPr lang="en-US" sz="1600" dirty="0"/>
          </a:p>
        </p:txBody>
      </p:sp>
      <p:sp>
        <p:nvSpPr>
          <p:cNvPr id="13" name="Text 11"/>
          <p:cNvSpPr/>
          <p:nvPr/>
        </p:nvSpPr>
        <p:spPr>
          <a:xfrm>
            <a:off x="3429000" y="2423160"/>
            <a:ext cx="2377440" cy="1828800"/>
          </a:xfrm>
          <a:prstGeom prst="rect">
            <a:avLst/>
          </a:prstGeom>
          <a:noFill/>
          <a:ln/>
        </p:spPr>
        <p:txBody>
          <a:bodyPr wrap="square" rtlCol="0" anchor="ctr"/>
          <a:lstStyle/>
          <a:p>
            <a:pPr marL="0" indent="0" algn="ctr">
              <a:buNone/>
            </a:pPr>
            <a:r>
              <a:rPr lang="en-US" sz="1200" dirty="0">
                <a:solidFill>
                  <a:srgbClr val="8899AA"/>
                </a:solidFill>
                <a:latin typeface="Calibri" pitchFamily="34" charset="0"/>
                <a:ea typeface="Calibri" pitchFamily="34" charset="-122"/>
                <a:cs typeface="Calibri" pitchFamily="34" charset="-120"/>
              </a:rPr>
              <a:t>Platforms decide what gets built. Creators risk losing funds if campaigns fail with no refund guarantee.</a:t>
            </a:r>
            <a:endParaRPr lang="en-US" sz="1200" dirty="0"/>
          </a:p>
        </p:txBody>
      </p:sp>
      <p:sp>
        <p:nvSpPr>
          <p:cNvPr id="14" name="Shape 12"/>
          <p:cNvSpPr/>
          <p:nvPr/>
        </p:nvSpPr>
        <p:spPr>
          <a:xfrm>
            <a:off x="6217920" y="1005840"/>
            <a:ext cx="2651760" cy="3474720"/>
          </a:xfrm>
          <a:prstGeom prst="rect">
            <a:avLst/>
          </a:prstGeom>
          <a:solidFill>
            <a:srgbClr val="E8F4F8"/>
          </a:solidFill>
          <a:ln/>
          <a:effectLst>
            <a:outerShdw blurRad="101600" dist="38100" dir="8100000" algn="bl" rotWithShape="0">
              <a:srgbClr val="000000">
                <a:alpha val="18000"/>
              </a:srgbClr>
            </a:outerShdw>
          </a:effectLst>
        </p:spPr>
      </p:sp>
      <p:sp>
        <p:nvSpPr>
          <p:cNvPr id="15" name="Shape 13"/>
          <p:cNvSpPr/>
          <p:nvPr/>
        </p:nvSpPr>
        <p:spPr>
          <a:xfrm>
            <a:off x="6217920" y="1005840"/>
            <a:ext cx="2651760" cy="109728"/>
          </a:xfrm>
          <a:prstGeom prst="rect">
            <a:avLst/>
          </a:prstGeom>
          <a:solidFill>
            <a:srgbClr val="1C7293"/>
          </a:solidFill>
          <a:ln/>
        </p:spPr>
      </p:sp>
      <p:sp>
        <p:nvSpPr>
          <p:cNvPr id="16" name="Text 14"/>
          <p:cNvSpPr/>
          <p:nvPr/>
        </p:nvSpPr>
        <p:spPr>
          <a:xfrm>
            <a:off x="6217920" y="1234440"/>
            <a:ext cx="2651760" cy="640080"/>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17" name="Text 15"/>
          <p:cNvSpPr/>
          <p:nvPr/>
        </p:nvSpPr>
        <p:spPr>
          <a:xfrm>
            <a:off x="6309360" y="1920240"/>
            <a:ext cx="2468880" cy="457200"/>
          </a:xfrm>
          <a:prstGeom prst="rect">
            <a:avLst/>
          </a:prstGeom>
          <a:noFill/>
          <a:ln/>
        </p:spPr>
        <p:txBody>
          <a:bodyPr wrap="square" lIns="0" tIns="0" rIns="0" bIns="0" rtlCol="0" anchor="ctr"/>
          <a:lstStyle/>
          <a:p>
            <a:pPr marL="0" indent="0" algn="ctr">
              <a:buNone/>
            </a:pPr>
            <a:r>
              <a:rPr lang="en-US" sz="1600" b="1" dirty="0">
                <a:solidFill>
                  <a:srgbClr val="0D1B2A"/>
                </a:solidFill>
                <a:latin typeface="Calibri" pitchFamily="34" charset="0"/>
                <a:ea typeface="Calibri" pitchFamily="34" charset="-122"/>
                <a:cs typeface="Calibri" pitchFamily="34" charset="-120"/>
              </a:rPr>
              <a:t>No Transparency</a:t>
            </a:r>
            <a:endParaRPr lang="en-US" sz="1600" dirty="0"/>
          </a:p>
        </p:txBody>
      </p:sp>
      <p:sp>
        <p:nvSpPr>
          <p:cNvPr id="18" name="Text 16"/>
          <p:cNvSpPr/>
          <p:nvPr/>
        </p:nvSpPr>
        <p:spPr>
          <a:xfrm>
            <a:off x="6355080" y="2423160"/>
            <a:ext cx="2377440" cy="1828800"/>
          </a:xfrm>
          <a:prstGeom prst="rect">
            <a:avLst/>
          </a:prstGeom>
          <a:noFill/>
          <a:ln/>
        </p:spPr>
        <p:txBody>
          <a:bodyPr wrap="square" rtlCol="0" anchor="ctr"/>
          <a:lstStyle/>
          <a:p>
            <a:pPr marL="0" indent="0" algn="ctr">
              <a:buNone/>
            </a:pPr>
            <a:r>
              <a:rPr lang="en-US" sz="1200" dirty="0">
                <a:solidFill>
                  <a:srgbClr val="8899AA"/>
                </a:solidFill>
                <a:latin typeface="Calibri" pitchFamily="34" charset="0"/>
                <a:ea typeface="Calibri" pitchFamily="34" charset="-122"/>
                <a:cs typeface="Calibri" pitchFamily="34" charset="-120"/>
              </a:rPr>
              <a:t>Donors cannot verify how funds are used. No on-chain record of contributions or outcomes.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p:spPr>
      </p:sp>
      <p:sp>
        <p:nvSpPr>
          <p:cNvPr id="3" name="Text 1"/>
          <p:cNvSpPr/>
          <p:nvPr/>
        </p:nvSpPr>
        <p:spPr>
          <a:xfrm>
            <a:off x="365760" y="0"/>
            <a:ext cx="8229600" cy="7772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Solution — EduChain</a:t>
            </a:r>
            <a:endParaRPr lang="en-US" sz="2800" dirty="0"/>
          </a:p>
        </p:txBody>
      </p:sp>
      <p:sp>
        <p:nvSpPr>
          <p:cNvPr id="4" name="Shape 2"/>
          <p:cNvSpPr/>
          <p:nvPr/>
        </p:nvSpPr>
        <p:spPr>
          <a:xfrm>
            <a:off x="274320" y="1280160"/>
            <a:ext cx="1828800" cy="2194560"/>
          </a:xfrm>
          <a:prstGeom prst="rect">
            <a:avLst/>
          </a:prstGeom>
          <a:solidFill>
            <a:srgbClr val="065A82"/>
          </a:solidFill>
          <a:ln/>
          <a:effectLst>
            <a:outerShdw blurRad="101600" dist="38100" dir="8100000" algn="bl" rotWithShape="0">
              <a:srgbClr val="000000">
                <a:alpha val="18000"/>
              </a:srgbClr>
            </a:outerShdw>
          </a:effectLst>
        </p:spPr>
      </p:sp>
      <p:sp>
        <p:nvSpPr>
          <p:cNvPr id="5" name="Text 3"/>
          <p:cNvSpPr/>
          <p:nvPr/>
        </p:nvSpPr>
        <p:spPr>
          <a:xfrm>
            <a:off x="274320" y="1280160"/>
            <a:ext cx="1828800" cy="21945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Contributors</a:t>
            </a:r>
            <a:endParaRPr lang="en-US" sz="1200" dirty="0"/>
          </a:p>
          <a:p>
            <a:pPr marL="0" indent="0" algn="ctr">
              <a:buNone/>
            </a:pP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Account 2</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Account 3</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Account 4</a:t>
            </a:r>
            <a:endParaRPr lang="en-US" sz="1200" dirty="0"/>
          </a:p>
        </p:txBody>
      </p:sp>
      <p:sp>
        <p:nvSpPr>
          <p:cNvPr id="6" name="Shape 4"/>
          <p:cNvSpPr/>
          <p:nvPr/>
        </p:nvSpPr>
        <p:spPr>
          <a:xfrm>
            <a:off x="2148840" y="2377440"/>
            <a:ext cx="1005840" cy="0"/>
          </a:xfrm>
          <a:prstGeom prst="line">
            <a:avLst/>
          </a:prstGeom>
          <a:noFill/>
          <a:ln w="38100">
            <a:solidFill>
              <a:srgbClr val="21A0C1"/>
            </a:solidFill>
            <a:prstDash val="solid"/>
          </a:ln>
        </p:spPr>
      </p:sp>
      <p:sp>
        <p:nvSpPr>
          <p:cNvPr id="7" name="Text 5"/>
          <p:cNvSpPr/>
          <p:nvPr/>
        </p:nvSpPr>
        <p:spPr>
          <a:xfrm>
            <a:off x="2103120" y="2057400"/>
            <a:ext cx="1097280" cy="274320"/>
          </a:xfrm>
          <a:prstGeom prst="rect">
            <a:avLst/>
          </a:prstGeom>
          <a:noFill/>
          <a:ln/>
        </p:spPr>
        <p:txBody>
          <a:bodyPr wrap="square" rtlCol="0" anchor="ctr"/>
          <a:lstStyle/>
          <a:p>
            <a:pPr marL="0" indent="0" algn="ctr">
              <a:buNone/>
            </a:pPr>
            <a:r>
              <a:rPr lang="en-US" sz="1000" dirty="0">
                <a:solidFill>
                  <a:srgbClr val="21A0C1"/>
                </a:solidFill>
              </a:rPr>
              <a:t>send ETH</a:t>
            </a:r>
            <a:endParaRPr lang="en-US" sz="1000" dirty="0"/>
          </a:p>
        </p:txBody>
      </p:sp>
      <p:sp>
        <p:nvSpPr>
          <p:cNvPr id="8" name="Shape 6"/>
          <p:cNvSpPr/>
          <p:nvPr/>
        </p:nvSpPr>
        <p:spPr>
          <a:xfrm>
            <a:off x="3200400" y="1097280"/>
            <a:ext cx="2560320" cy="2560320"/>
          </a:xfrm>
          <a:prstGeom prst="rect">
            <a:avLst/>
          </a:prstGeom>
          <a:solidFill>
            <a:srgbClr val="1C7293"/>
          </a:solidFill>
          <a:ln/>
          <a:effectLst>
            <a:outerShdw blurRad="101600" dist="38100" dir="8100000" algn="bl" rotWithShape="0">
              <a:srgbClr val="000000">
                <a:alpha val="18000"/>
              </a:srgbClr>
            </a:outerShdw>
          </a:effectLst>
        </p:spPr>
      </p:sp>
      <p:sp>
        <p:nvSpPr>
          <p:cNvPr id="9" name="Text 7"/>
          <p:cNvSpPr/>
          <p:nvPr/>
        </p:nvSpPr>
        <p:spPr>
          <a:xfrm>
            <a:off x="3200400" y="1097280"/>
            <a:ext cx="2560320" cy="2560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Smart Contract</a:t>
            </a:r>
            <a:endParaRPr lang="en-US" sz="1300" dirty="0"/>
          </a:p>
          <a:p>
            <a:pPr marL="0" indent="0" algn="ctr">
              <a:buNone/>
            </a:pP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EduChainCrowdfunding</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.sol</a:t>
            </a:r>
            <a:endParaRPr lang="en-US" sz="1300" dirty="0"/>
          </a:p>
        </p:txBody>
      </p:sp>
      <p:sp>
        <p:nvSpPr>
          <p:cNvPr id="10" name="Shape 8"/>
          <p:cNvSpPr/>
          <p:nvPr/>
        </p:nvSpPr>
        <p:spPr>
          <a:xfrm>
            <a:off x="5806440" y="2377440"/>
            <a:ext cx="731520" cy="0"/>
          </a:xfrm>
          <a:prstGeom prst="line">
            <a:avLst/>
          </a:prstGeom>
          <a:noFill/>
          <a:ln w="38100">
            <a:solidFill>
              <a:srgbClr val="21A0C1"/>
            </a:solidFill>
            <a:prstDash val="solid"/>
          </a:ln>
        </p:spPr>
      </p:sp>
      <p:sp>
        <p:nvSpPr>
          <p:cNvPr id="11" name="Shape 9"/>
          <p:cNvSpPr/>
          <p:nvPr/>
        </p:nvSpPr>
        <p:spPr>
          <a:xfrm>
            <a:off x="6583680" y="1005840"/>
            <a:ext cx="2194560" cy="1051560"/>
          </a:xfrm>
          <a:prstGeom prst="rect">
            <a:avLst/>
          </a:prstGeom>
          <a:solidFill>
            <a:srgbClr val="27AE60"/>
          </a:solidFill>
          <a:ln/>
          <a:effectLst>
            <a:outerShdw blurRad="101600" dist="38100" dir="8100000" algn="bl" rotWithShape="0">
              <a:srgbClr val="000000">
                <a:alpha val="18000"/>
              </a:srgbClr>
            </a:outerShdw>
          </a:effectLst>
        </p:spPr>
      </p:sp>
      <p:sp>
        <p:nvSpPr>
          <p:cNvPr id="12" name="Text 10"/>
          <p:cNvSpPr/>
          <p:nvPr/>
        </p:nvSpPr>
        <p:spPr>
          <a:xfrm>
            <a:off x="6583680" y="1005840"/>
            <a:ext cx="2194560" cy="10515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Goal Met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Owner Withdraws</a:t>
            </a:r>
            <a:endParaRPr lang="en-US" sz="1300" dirty="0"/>
          </a:p>
        </p:txBody>
      </p:sp>
      <p:sp>
        <p:nvSpPr>
          <p:cNvPr id="13" name="Shape 11"/>
          <p:cNvSpPr/>
          <p:nvPr/>
        </p:nvSpPr>
        <p:spPr>
          <a:xfrm>
            <a:off x="6583680" y="2651760"/>
            <a:ext cx="2194560" cy="1051560"/>
          </a:xfrm>
          <a:prstGeom prst="rect">
            <a:avLst/>
          </a:prstGeom>
          <a:solidFill>
            <a:srgbClr val="E74C3C"/>
          </a:solidFill>
          <a:ln/>
          <a:effectLst>
            <a:outerShdw blurRad="101600" dist="38100" dir="8100000" algn="bl" rotWithShape="0">
              <a:srgbClr val="000000">
                <a:alpha val="18000"/>
              </a:srgbClr>
            </a:outerShdw>
          </a:effectLst>
        </p:spPr>
      </p:sp>
      <p:sp>
        <p:nvSpPr>
          <p:cNvPr id="14" name="Text 12"/>
          <p:cNvSpPr/>
          <p:nvPr/>
        </p:nvSpPr>
        <p:spPr>
          <a:xfrm>
            <a:off x="6583680" y="2651760"/>
            <a:ext cx="2194560" cy="10515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Goal Failed</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Full Refunds</a:t>
            </a:r>
            <a:endParaRPr lang="en-US" sz="1300" dirty="0"/>
          </a:p>
        </p:txBody>
      </p:sp>
      <p:sp>
        <p:nvSpPr>
          <p:cNvPr id="15" name="Text 13"/>
          <p:cNvSpPr/>
          <p:nvPr/>
        </p:nvSpPr>
        <p:spPr>
          <a:xfrm>
            <a:off x="365760" y="4206240"/>
            <a:ext cx="1645920" cy="365760"/>
          </a:xfrm>
          <a:prstGeom prst="rect">
            <a:avLst/>
          </a:prstGeom>
          <a:noFill/>
          <a:ln/>
        </p:spPr>
        <p:txBody>
          <a:bodyPr wrap="square" rtlCol="0" anchor="ctr"/>
          <a:lstStyle/>
          <a:p>
            <a:pPr marL="0" indent="0">
              <a:buNone/>
            </a:pPr>
            <a:r>
              <a:rPr lang="en-US" sz="1300" b="1" dirty="0">
                <a:solidFill>
                  <a:srgbClr val="D0E4EE"/>
                </a:solidFill>
              </a:rPr>
              <a:t>Reward Tiers:</a:t>
            </a:r>
            <a:endParaRPr lang="en-US" sz="1300" dirty="0"/>
          </a:p>
        </p:txBody>
      </p:sp>
      <p:sp>
        <p:nvSpPr>
          <p:cNvPr id="16" name="Shape 14"/>
          <p:cNvSpPr/>
          <p:nvPr/>
        </p:nvSpPr>
        <p:spPr>
          <a:xfrm>
            <a:off x="2011680" y="4206240"/>
            <a:ext cx="2103120" cy="365760"/>
          </a:xfrm>
          <a:prstGeom prst="roundRect">
            <a:avLst>
              <a:gd name="adj" fmla="val 25000"/>
            </a:avLst>
          </a:prstGeom>
          <a:solidFill>
            <a:srgbClr val="065A82"/>
          </a:solidFill>
          <a:ln/>
        </p:spPr>
      </p:sp>
      <p:sp>
        <p:nvSpPr>
          <p:cNvPr id="17" name="Text 15"/>
          <p:cNvSpPr/>
          <p:nvPr/>
        </p:nvSpPr>
        <p:spPr>
          <a:xfrm>
            <a:off x="2011680" y="4206240"/>
            <a:ext cx="210312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Learner  ≥ 0.01 ETH</a:t>
            </a:r>
            <a:endParaRPr lang="en-US" sz="1100" dirty="0"/>
          </a:p>
        </p:txBody>
      </p:sp>
      <p:sp>
        <p:nvSpPr>
          <p:cNvPr id="18" name="Shape 16"/>
          <p:cNvSpPr/>
          <p:nvPr/>
        </p:nvSpPr>
        <p:spPr>
          <a:xfrm>
            <a:off x="4389120" y="4206240"/>
            <a:ext cx="2103120" cy="365760"/>
          </a:xfrm>
          <a:prstGeom prst="roundRect">
            <a:avLst>
              <a:gd name="adj" fmla="val 25000"/>
            </a:avLst>
          </a:prstGeom>
          <a:solidFill>
            <a:srgbClr val="1C7293"/>
          </a:solidFill>
          <a:ln/>
        </p:spPr>
      </p:sp>
      <p:sp>
        <p:nvSpPr>
          <p:cNvPr id="19" name="Text 17"/>
          <p:cNvSpPr/>
          <p:nvPr/>
        </p:nvSpPr>
        <p:spPr>
          <a:xfrm>
            <a:off x="4389120" y="4206240"/>
            <a:ext cx="210312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Mentor  ≥ 0.05 ETH</a:t>
            </a:r>
            <a:endParaRPr lang="en-US" sz="1100" dirty="0"/>
          </a:p>
        </p:txBody>
      </p:sp>
      <p:sp>
        <p:nvSpPr>
          <p:cNvPr id="20" name="Shape 18"/>
          <p:cNvSpPr/>
          <p:nvPr/>
        </p:nvSpPr>
        <p:spPr>
          <a:xfrm>
            <a:off x="6766560" y="4206240"/>
            <a:ext cx="2103120" cy="365760"/>
          </a:xfrm>
          <a:prstGeom prst="roundRect">
            <a:avLst>
              <a:gd name="adj" fmla="val 25000"/>
            </a:avLst>
          </a:prstGeom>
          <a:solidFill>
            <a:srgbClr val="8E44AD"/>
          </a:solidFill>
          <a:ln/>
        </p:spPr>
      </p:sp>
      <p:sp>
        <p:nvSpPr>
          <p:cNvPr id="21" name="Text 19"/>
          <p:cNvSpPr/>
          <p:nvPr/>
        </p:nvSpPr>
        <p:spPr>
          <a:xfrm>
            <a:off x="6766560" y="4206240"/>
            <a:ext cx="210312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Founder  ≥ 0.10 ETH</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65760" y="0"/>
            <a:ext cx="8229600" cy="7772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Contract Design</a:t>
            </a:r>
            <a:endParaRPr lang="en-US" sz="2800" dirty="0"/>
          </a:p>
        </p:txBody>
      </p:sp>
      <p:sp>
        <p:nvSpPr>
          <p:cNvPr id="4" name="Shape 2"/>
          <p:cNvSpPr/>
          <p:nvPr/>
        </p:nvSpPr>
        <p:spPr>
          <a:xfrm>
            <a:off x="274320" y="960120"/>
            <a:ext cx="4114800" cy="1691640"/>
          </a:xfrm>
          <a:prstGeom prst="rect">
            <a:avLst/>
          </a:prstGeom>
          <a:solidFill>
            <a:srgbClr val="E8F4F8"/>
          </a:solidFill>
          <a:ln/>
          <a:effectLst>
            <a:outerShdw blurRad="101600" dist="38100" dir="8100000" algn="bl" rotWithShape="0">
              <a:srgbClr val="000000">
                <a:alpha val="18000"/>
              </a:srgbClr>
            </a:outerShdw>
          </a:effectLst>
        </p:spPr>
      </p:sp>
      <p:sp>
        <p:nvSpPr>
          <p:cNvPr id="5" name="Shape 3"/>
          <p:cNvSpPr/>
          <p:nvPr/>
        </p:nvSpPr>
        <p:spPr>
          <a:xfrm>
            <a:off x="274320" y="960120"/>
            <a:ext cx="91440" cy="1691640"/>
          </a:xfrm>
          <a:prstGeom prst="rect">
            <a:avLst/>
          </a:prstGeom>
          <a:solidFill>
            <a:srgbClr val="1C7293"/>
          </a:solidFill>
          <a:ln/>
        </p:spPr>
      </p:sp>
      <p:sp>
        <p:nvSpPr>
          <p:cNvPr id="6" name="Shape 4"/>
          <p:cNvSpPr/>
          <p:nvPr/>
        </p:nvSpPr>
        <p:spPr>
          <a:xfrm>
            <a:off x="3474720" y="1033272"/>
            <a:ext cx="804672" cy="274320"/>
          </a:xfrm>
          <a:prstGeom prst="roundRect">
            <a:avLst>
              <a:gd name="adj" fmla="val 26667"/>
            </a:avLst>
          </a:prstGeom>
          <a:solidFill>
            <a:srgbClr val="065A82"/>
          </a:solidFill>
          <a:ln/>
        </p:spPr>
      </p:sp>
      <p:sp>
        <p:nvSpPr>
          <p:cNvPr id="7" name="Text 5"/>
          <p:cNvSpPr/>
          <p:nvPr/>
        </p:nvSpPr>
        <p:spPr>
          <a:xfrm>
            <a:off x="3474720" y="1033272"/>
            <a:ext cx="804672"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struct</a:t>
            </a:r>
            <a:endParaRPr lang="en-US" sz="1000" dirty="0"/>
          </a:p>
        </p:txBody>
      </p:sp>
      <p:sp>
        <p:nvSpPr>
          <p:cNvPr id="8" name="Text 6"/>
          <p:cNvSpPr/>
          <p:nvPr/>
        </p:nvSpPr>
        <p:spPr>
          <a:xfrm>
            <a:off x="457200" y="1051560"/>
            <a:ext cx="301752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  Contributor Struct</a:t>
            </a:r>
            <a:endParaRPr lang="en-US" sz="1400" dirty="0"/>
          </a:p>
        </p:txBody>
      </p:sp>
      <p:sp>
        <p:nvSpPr>
          <p:cNvPr id="9" name="Text 7"/>
          <p:cNvSpPr/>
          <p:nvPr/>
        </p:nvSpPr>
        <p:spPr>
          <a:xfrm>
            <a:off x="457200" y="1463040"/>
            <a:ext cx="3749040" cy="1005840"/>
          </a:xfrm>
          <a:prstGeom prst="rect">
            <a:avLst/>
          </a:prstGeom>
          <a:noFill/>
          <a:ln/>
        </p:spPr>
        <p:txBody>
          <a:bodyPr wrap="square" rtlCol="0" anchor="ctr"/>
          <a:lstStyle/>
          <a:p>
            <a:pPr marL="0" indent="0">
              <a:buNone/>
            </a:pPr>
            <a:r>
              <a:rPr lang="en-US" sz="1200" dirty="0">
                <a:solidFill>
                  <a:srgbClr val="8899AA"/>
                </a:solidFill>
                <a:latin typeface="Courier New" pitchFamily="34" charset="0"/>
                <a:ea typeface="Courier New" pitchFamily="34" charset="-122"/>
                <a:cs typeface="Courier New" pitchFamily="34" charset="-120"/>
              </a:rPr>
              <a:t>uint256 amount</a:t>
            </a:r>
            <a:endParaRPr lang="en-US" sz="1200" dirty="0"/>
          </a:p>
          <a:p>
            <a:pPr marL="0" indent="0">
              <a:buNone/>
            </a:pPr>
            <a:r>
              <a:rPr lang="en-US" sz="1200" dirty="0">
                <a:solidFill>
                  <a:srgbClr val="8899AA"/>
                </a:solidFill>
                <a:latin typeface="Courier New" pitchFamily="34" charset="0"/>
                <a:ea typeface="Courier New" pitchFamily="34" charset="-122"/>
                <a:cs typeface="Courier New" pitchFamily="34" charset="-120"/>
              </a:rPr>
              <a:t>Tier tier (enum)</a:t>
            </a:r>
            <a:endParaRPr lang="en-US" sz="1200" dirty="0"/>
          </a:p>
          <a:p>
            <a:pPr marL="0" indent="0">
              <a:buNone/>
            </a:pPr>
            <a:r>
              <a:rPr lang="en-US" sz="1200" dirty="0">
                <a:solidFill>
                  <a:srgbClr val="8899AA"/>
                </a:solidFill>
                <a:latin typeface="Courier New" pitchFamily="34" charset="0"/>
                <a:ea typeface="Courier New" pitchFamily="34" charset="-122"/>
                <a:cs typeface="Courier New" pitchFamily="34" charset="-120"/>
              </a:rPr>
              <a:t>bool refunded</a:t>
            </a:r>
            <a:endParaRPr lang="en-US" sz="1200" dirty="0"/>
          </a:p>
        </p:txBody>
      </p:sp>
      <p:sp>
        <p:nvSpPr>
          <p:cNvPr id="10" name="Shape 8"/>
          <p:cNvSpPr/>
          <p:nvPr/>
        </p:nvSpPr>
        <p:spPr>
          <a:xfrm>
            <a:off x="4754880" y="960120"/>
            <a:ext cx="4114800" cy="1691640"/>
          </a:xfrm>
          <a:prstGeom prst="rect">
            <a:avLst/>
          </a:prstGeom>
          <a:solidFill>
            <a:srgbClr val="E8F4F8"/>
          </a:solidFill>
          <a:ln/>
          <a:effectLst>
            <a:outerShdw blurRad="101600" dist="38100" dir="8100000" algn="bl" rotWithShape="0">
              <a:srgbClr val="000000">
                <a:alpha val="18000"/>
              </a:srgbClr>
            </a:outerShdw>
          </a:effectLst>
        </p:spPr>
      </p:sp>
      <p:sp>
        <p:nvSpPr>
          <p:cNvPr id="11" name="Shape 9"/>
          <p:cNvSpPr/>
          <p:nvPr/>
        </p:nvSpPr>
        <p:spPr>
          <a:xfrm>
            <a:off x="4754880" y="960120"/>
            <a:ext cx="91440" cy="1691640"/>
          </a:xfrm>
          <a:prstGeom prst="rect">
            <a:avLst/>
          </a:prstGeom>
          <a:solidFill>
            <a:srgbClr val="1C7293"/>
          </a:solidFill>
          <a:ln/>
        </p:spPr>
      </p:sp>
      <p:sp>
        <p:nvSpPr>
          <p:cNvPr id="12" name="Shape 10"/>
          <p:cNvSpPr/>
          <p:nvPr/>
        </p:nvSpPr>
        <p:spPr>
          <a:xfrm>
            <a:off x="7955280" y="1033272"/>
            <a:ext cx="804672" cy="274320"/>
          </a:xfrm>
          <a:prstGeom prst="roundRect">
            <a:avLst>
              <a:gd name="adj" fmla="val 26667"/>
            </a:avLst>
          </a:prstGeom>
          <a:solidFill>
            <a:srgbClr val="065A82"/>
          </a:solidFill>
          <a:ln/>
        </p:spPr>
      </p:sp>
      <p:sp>
        <p:nvSpPr>
          <p:cNvPr id="13" name="Text 11"/>
          <p:cNvSpPr/>
          <p:nvPr/>
        </p:nvSpPr>
        <p:spPr>
          <a:xfrm>
            <a:off x="7955280" y="1033272"/>
            <a:ext cx="804672"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mapping</a:t>
            </a:r>
            <a:endParaRPr lang="en-US" sz="1000" dirty="0"/>
          </a:p>
        </p:txBody>
      </p:sp>
      <p:sp>
        <p:nvSpPr>
          <p:cNvPr id="14" name="Text 12"/>
          <p:cNvSpPr/>
          <p:nvPr/>
        </p:nvSpPr>
        <p:spPr>
          <a:xfrm>
            <a:off x="4937760" y="1051560"/>
            <a:ext cx="301752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  Contributions Mapping</a:t>
            </a:r>
            <a:endParaRPr lang="en-US" sz="1400" dirty="0"/>
          </a:p>
        </p:txBody>
      </p:sp>
      <p:sp>
        <p:nvSpPr>
          <p:cNvPr id="15" name="Text 13"/>
          <p:cNvSpPr/>
          <p:nvPr/>
        </p:nvSpPr>
        <p:spPr>
          <a:xfrm>
            <a:off x="4937760" y="1463040"/>
            <a:ext cx="3749040" cy="1005840"/>
          </a:xfrm>
          <a:prstGeom prst="rect">
            <a:avLst/>
          </a:prstGeom>
          <a:noFill/>
          <a:ln/>
        </p:spPr>
        <p:txBody>
          <a:bodyPr wrap="square" rtlCol="0" anchor="ctr"/>
          <a:lstStyle/>
          <a:p>
            <a:pPr marL="0" indent="0">
              <a:buNone/>
            </a:pPr>
            <a:r>
              <a:rPr lang="en-US" sz="1200" dirty="0">
                <a:solidFill>
                  <a:srgbClr val="8899AA"/>
                </a:solidFill>
                <a:latin typeface="Courier New" pitchFamily="34" charset="0"/>
                <a:ea typeface="Courier New" pitchFamily="34" charset="-122"/>
                <a:cs typeface="Courier New" pitchFamily="34" charset="-120"/>
              </a:rPr>
              <a:t>mapping(address =&gt;</a:t>
            </a:r>
            <a:endParaRPr lang="en-US" sz="1200" dirty="0"/>
          </a:p>
          <a:p>
            <a:pPr marL="0" indent="0">
              <a:buNone/>
            </a:pPr>
            <a:r>
              <a:rPr lang="en-US" sz="1200" dirty="0">
                <a:solidFill>
                  <a:srgbClr val="8899AA"/>
                </a:solidFill>
                <a:latin typeface="Courier New" pitchFamily="34" charset="0"/>
                <a:ea typeface="Courier New" pitchFamily="34" charset="-122"/>
                <a:cs typeface="Courier New" pitchFamily="34" charset="-120"/>
              </a:rPr>
              <a:t>Contributor)</a:t>
            </a:r>
            <a:endParaRPr lang="en-US" sz="1200" dirty="0"/>
          </a:p>
          <a:p>
            <a:pPr marL="0" indent="0">
              <a:buNone/>
            </a:pPr>
            <a:r>
              <a:rPr lang="en-US" sz="1200" dirty="0">
                <a:solidFill>
                  <a:srgbClr val="8899AA"/>
                </a:solidFill>
                <a:latin typeface="Courier New" pitchFamily="34" charset="0"/>
                <a:ea typeface="Courier New" pitchFamily="34" charset="-122"/>
                <a:cs typeface="Courier New" pitchFamily="34" charset="-120"/>
              </a:rPr>
              <a:t>address[] contributorList</a:t>
            </a:r>
            <a:endParaRPr lang="en-US" sz="1200" dirty="0"/>
          </a:p>
        </p:txBody>
      </p:sp>
      <p:sp>
        <p:nvSpPr>
          <p:cNvPr id="16" name="Shape 14"/>
          <p:cNvSpPr/>
          <p:nvPr/>
        </p:nvSpPr>
        <p:spPr>
          <a:xfrm>
            <a:off x="274320" y="2788920"/>
            <a:ext cx="4114800" cy="1691640"/>
          </a:xfrm>
          <a:prstGeom prst="rect">
            <a:avLst/>
          </a:prstGeom>
          <a:solidFill>
            <a:srgbClr val="E8F4F8"/>
          </a:solidFill>
          <a:ln/>
          <a:effectLst>
            <a:outerShdw blurRad="101600" dist="38100" dir="8100000" algn="bl" rotWithShape="0">
              <a:srgbClr val="000000">
                <a:alpha val="18000"/>
              </a:srgbClr>
            </a:outerShdw>
          </a:effectLst>
        </p:spPr>
      </p:sp>
      <p:sp>
        <p:nvSpPr>
          <p:cNvPr id="17" name="Shape 15"/>
          <p:cNvSpPr/>
          <p:nvPr/>
        </p:nvSpPr>
        <p:spPr>
          <a:xfrm>
            <a:off x="274320" y="2788920"/>
            <a:ext cx="91440" cy="1691640"/>
          </a:xfrm>
          <a:prstGeom prst="rect">
            <a:avLst/>
          </a:prstGeom>
          <a:solidFill>
            <a:srgbClr val="1C7293"/>
          </a:solidFill>
          <a:ln/>
        </p:spPr>
      </p:sp>
      <p:sp>
        <p:nvSpPr>
          <p:cNvPr id="18" name="Shape 16"/>
          <p:cNvSpPr/>
          <p:nvPr/>
        </p:nvSpPr>
        <p:spPr>
          <a:xfrm>
            <a:off x="3474720" y="2862072"/>
            <a:ext cx="804672" cy="274320"/>
          </a:xfrm>
          <a:prstGeom prst="roundRect">
            <a:avLst>
              <a:gd name="adj" fmla="val 26667"/>
            </a:avLst>
          </a:prstGeom>
          <a:solidFill>
            <a:srgbClr val="065A82"/>
          </a:solidFill>
          <a:ln/>
        </p:spPr>
      </p:sp>
      <p:sp>
        <p:nvSpPr>
          <p:cNvPr id="19" name="Text 17"/>
          <p:cNvSpPr/>
          <p:nvPr/>
        </p:nvSpPr>
        <p:spPr>
          <a:xfrm>
            <a:off x="3474720" y="2862072"/>
            <a:ext cx="804672"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modifier</a:t>
            </a:r>
            <a:endParaRPr lang="en-US" sz="1000" dirty="0"/>
          </a:p>
        </p:txBody>
      </p:sp>
      <p:sp>
        <p:nvSpPr>
          <p:cNvPr id="20" name="Text 18"/>
          <p:cNvSpPr/>
          <p:nvPr/>
        </p:nvSpPr>
        <p:spPr>
          <a:xfrm>
            <a:off x="457200" y="2880360"/>
            <a:ext cx="301752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  Three Modifiers</a:t>
            </a:r>
            <a:endParaRPr lang="en-US" sz="1400" dirty="0"/>
          </a:p>
        </p:txBody>
      </p:sp>
      <p:sp>
        <p:nvSpPr>
          <p:cNvPr id="21" name="Text 19"/>
          <p:cNvSpPr/>
          <p:nvPr/>
        </p:nvSpPr>
        <p:spPr>
          <a:xfrm>
            <a:off x="457200" y="3291840"/>
            <a:ext cx="3749040" cy="1005840"/>
          </a:xfrm>
          <a:prstGeom prst="rect">
            <a:avLst/>
          </a:prstGeom>
          <a:noFill/>
          <a:ln/>
        </p:spPr>
        <p:txBody>
          <a:bodyPr wrap="square" rtlCol="0" anchor="ctr"/>
          <a:lstStyle/>
          <a:p>
            <a:pPr marL="0" indent="0">
              <a:buNone/>
            </a:pPr>
            <a:r>
              <a:rPr lang="en-US" sz="1200" dirty="0">
                <a:solidFill>
                  <a:srgbClr val="8899AA"/>
                </a:solidFill>
                <a:latin typeface="Courier New" pitchFamily="34" charset="0"/>
                <a:ea typeface="Courier New" pitchFamily="34" charset="-122"/>
                <a:cs typeface="Courier New" pitchFamily="34" charset="-120"/>
              </a:rPr>
              <a:t>onlyOwner</a:t>
            </a:r>
            <a:endParaRPr lang="en-US" sz="1200" dirty="0"/>
          </a:p>
          <a:p>
            <a:pPr marL="0" indent="0">
              <a:buNone/>
            </a:pPr>
            <a:r>
              <a:rPr lang="en-US" sz="1200" dirty="0">
                <a:solidFill>
                  <a:srgbClr val="8899AA"/>
                </a:solidFill>
                <a:latin typeface="Courier New" pitchFamily="34" charset="0"/>
                <a:ea typeface="Courier New" pitchFamily="34" charset="-122"/>
                <a:cs typeface="Courier New" pitchFamily="34" charset="-120"/>
              </a:rPr>
              <a:t>beforeDeadline</a:t>
            </a:r>
            <a:endParaRPr lang="en-US" sz="1200" dirty="0"/>
          </a:p>
          <a:p>
            <a:pPr marL="0" indent="0">
              <a:buNone/>
            </a:pPr>
            <a:r>
              <a:rPr lang="en-US" sz="1200" dirty="0">
                <a:solidFill>
                  <a:srgbClr val="8899AA"/>
                </a:solidFill>
                <a:latin typeface="Courier New" pitchFamily="34" charset="0"/>
                <a:ea typeface="Courier New" pitchFamily="34" charset="-122"/>
                <a:cs typeface="Courier New" pitchFamily="34" charset="-120"/>
              </a:rPr>
              <a:t>afterDeadline</a:t>
            </a:r>
            <a:endParaRPr lang="en-US" sz="1200" dirty="0"/>
          </a:p>
        </p:txBody>
      </p:sp>
      <p:sp>
        <p:nvSpPr>
          <p:cNvPr id="22" name="Shape 20"/>
          <p:cNvSpPr/>
          <p:nvPr/>
        </p:nvSpPr>
        <p:spPr>
          <a:xfrm>
            <a:off x="4754880" y="2788920"/>
            <a:ext cx="4114800" cy="1691640"/>
          </a:xfrm>
          <a:prstGeom prst="rect">
            <a:avLst/>
          </a:prstGeom>
          <a:solidFill>
            <a:srgbClr val="E8F4F8"/>
          </a:solidFill>
          <a:ln/>
          <a:effectLst>
            <a:outerShdw blurRad="101600" dist="38100" dir="8100000" algn="bl" rotWithShape="0">
              <a:srgbClr val="000000">
                <a:alpha val="18000"/>
              </a:srgbClr>
            </a:outerShdw>
          </a:effectLst>
        </p:spPr>
      </p:sp>
      <p:sp>
        <p:nvSpPr>
          <p:cNvPr id="23" name="Shape 21"/>
          <p:cNvSpPr/>
          <p:nvPr/>
        </p:nvSpPr>
        <p:spPr>
          <a:xfrm>
            <a:off x="4754880" y="2788920"/>
            <a:ext cx="91440" cy="1691640"/>
          </a:xfrm>
          <a:prstGeom prst="rect">
            <a:avLst/>
          </a:prstGeom>
          <a:solidFill>
            <a:srgbClr val="1C7293"/>
          </a:solidFill>
          <a:ln/>
        </p:spPr>
      </p:sp>
      <p:sp>
        <p:nvSpPr>
          <p:cNvPr id="24" name="Shape 22"/>
          <p:cNvSpPr/>
          <p:nvPr/>
        </p:nvSpPr>
        <p:spPr>
          <a:xfrm>
            <a:off x="7955280" y="2862072"/>
            <a:ext cx="804672" cy="274320"/>
          </a:xfrm>
          <a:prstGeom prst="roundRect">
            <a:avLst>
              <a:gd name="adj" fmla="val 26667"/>
            </a:avLst>
          </a:prstGeom>
          <a:solidFill>
            <a:srgbClr val="065A82"/>
          </a:solidFill>
          <a:ln/>
        </p:spPr>
      </p:sp>
      <p:sp>
        <p:nvSpPr>
          <p:cNvPr id="25" name="Text 23"/>
          <p:cNvSpPr/>
          <p:nvPr/>
        </p:nvSpPr>
        <p:spPr>
          <a:xfrm>
            <a:off x="7955280" y="2862072"/>
            <a:ext cx="804672"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events</a:t>
            </a:r>
            <a:endParaRPr lang="en-US" sz="1000" dirty="0"/>
          </a:p>
        </p:txBody>
      </p:sp>
      <p:sp>
        <p:nvSpPr>
          <p:cNvPr id="26" name="Text 24"/>
          <p:cNvSpPr/>
          <p:nvPr/>
        </p:nvSpPr>
        <p:spPr>
          <a:xfrm>
            <a:off x="4937760" y="2880360"/>
            <a:ext cx="3017520" cy="365760"/>
          </a:xfrm>
          <a:prstGeom prst="rect">
            <a:avLst/>
          </a:prstGeom>
          <a:noFill/>
          <a:ln/>
        </p:spPr>
        <p:txBody>
          <a:bodyPr wrap="square" lIns="0" tIns="0" rIns="0" bIns="0" rtlCol="0" anchor="ctr"/>
          <a:lstStyle/>
          <a:p>
            <a:pPr marL="0" indent="0">
              <a:buNone/>
            </a:pPr>
            <a:r>
              <a:rPr lang="en-US" sz="1400" b="1" dirty="0">
                <a:solidFill>
                  <a:srgbClr val="0D1B2A"/>
                </a:solidFill>
                <a:latin typeface="Calibri" pitchFamily="34" charset="0"/>
                <a:ea typeface="Calibri" pitchFamily="34" charset="-122"/>
                <a:cs typeface="Calibri" pitchFamily="34" charset="-120"/>
              </a:rPr>
              <a:t>📡  Four Events</a:t>
            </a:r>
            <a:endParaRPr lang="en-US" sz="1400" dirty="0"/>
          </a:p>
        </p:txBody>
      </p:sp>
      <p:sp>
        <p:nvSpPr>
          <p:cNvPr id="27" name="Text 25"/>
          <p:cNvSpPr/>
          <p:nvPr/>
        </p:nvSpPr>
        <p:spPr>
          <a:xfrm>
            <a:off x="4937760" y="3291840"/>
            <a:ext cx="3749040" cy="1005840"/>
          </a:xfrm>
          <a:prstGeom prst="rect">
            <a:avLst/>
          </a:prstGeom>
          <a:noFill/>
          <a:ln/>
        </p:spPr>
        <p:txBody>
          <a:bodyPr wrap="square" rtlCol="0" anchor="ctr"/>
          <a:lstStyle/>
          <a:p>
            <a:pPr marL="0" indent="0">
              <a:buNone/>
            </a:pPr>
            <a:r>
              <a:rPr lang="en-US" sz="1200" dirty="0">
                <a:solidFill>
                  <a:srgbClr val="8899AA"/>
                </a:solidFill>
                <a:latin typeface="Courier New" pitchFamily="34" charset="0"/>
                <a:ea typeface="Courier New" pitchFamily="34" charset="-122"/>
                <a:cs typeface="Courier New" pitchFamily="34" charset="-120"/>
              </a:rPr>
              <a:t>ContributionReceived</a:t>
            </a:r>
            <a:endParaRPr lang="en-US" sz="1200" dirty="0"/>
          </a:p>
          <a:p>
            <a:pPr marL="0" indent="0">
              <a:buNone/>
            </a:pPr>
            <a:r>
              <a:rPr lang="en-US" sz="1200" dirty="0">
                <a:solidFill>
                  <a:srgbClr val="8899AA"/>
                </a:solidFill>
                <a:latin typeface="Courier New" pitchFamily="34" charset="0"/>
                <a:ea typeface="Courier New" pitchFamily="34" charset="-122"/>
                <a:cs typeface="Courier New" pitchFamily="34" charset="-120"/>
              </a:rPr>
              <a:t>GoalReached</a:t>
            </a:r>
            <a:endParaRPr lang="en-US" sz="1200" dirty="0"/>
          </a:p>
          <a:p>
            <a:pPr marL="0" indent="0">
              <a:buNone/>
            </a:pPr>
            <a:r>
              <a:rPr lang="en-US" sz="1200" dirty="0">
                <a:solidFill>
                  <a:srgbClr val="8899AA"/>
                </a:solidFill>
                <a:latin typeface="Courier New" pitchFamily="34" charset="0"/>
                <a:ea typeface="Courier New" pitchFamily="34" charset="-122"/>
                <a:cs typeface="Courier New" pitchFamily="34" charset="-120"/>
              </a:rPr>
              <a:t>FundsWithdrawn</a:t>
            </a:r>
            <a:endParaRPr lang="en-US" sz="1200" dirty="0"/>
          </a:p>
          <a:p>
            <a:pPr marL="0" indent="0">
              <a:buNone/>
            </a:pPr>
            <a:r>
              <a:rPr lang="en-US" sz="1200" dirty="0">
                <a:solidFill>
                  <a:srgbClr val="8899AA"/>
                </a:solidFill>
                <a:latin typeface="Courier New" pitchFamily="34" charset="0"/>
                <a:ea typeface="Courier New" pitchFamily="34" charset="-122"/>
                <a:cs typeface="Courier New" pitchFamily="34" charset="-120"/>
              </a:rPr>
              <a:t>RefundIssued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C7293"/>
          </a:solidFill>
          <a:ln/>
        </p:spPr>
      </p:sp>
      <p:sp>
        <p:nvSpPr>
          <p:cNvPr id="3" name="Text 1"/>
          <p:cNvSpPr/>
          <p:nvPr/>
        </p:nvSpPr>
        <p:spPr>
          <a:xfrm>
            <a:off x="365760" y="0"/>
            <a:ext cx="8229600" cy="7772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Execution Workflow</a:t>
            </a:r>
            <a:endParaRPr lang="en-US" sz="2800" dirty="0"/>
          </a:p>
        </p:txBody>
      </p:sp>
      <p:sp>
        <p:nvSpPr>
          <p:cNvPr id="4" name="Shape 2"/>
          <p:cNvSpPr/>
          <p:nvPr/>
        </p:nvSpPr>
        <p:spPr>
          <a:xfrm>
            <a:off x="274320" y="960120"/>
            <a:ext cx="2651760" cy="1920240"/>
          </a:xfrm>
          <a:prstGeom prst="rect">
            <a:avLst/>
          </a:prstGeom>
          <a:solidFill>
            <a:srgbClr val="065A82"/>
          </a:solidFill>
          <a:ln/>
          <a:effectLst>
            <a:outerShdw blurRad="101600" dist="38100" dir="8100000" algn="bl" rotWithShape="0">
              <a:srgbClr val="000000">
                <a:alpha val="18000"/>
              </a:srgbClr>
            </a:outerShdw>
          </a:effectLst>
        </p:spPr>
      </p:sp>
      <p:sp>
        <p:nvSpPr>
          <p:cNvPr id="5" name="Shape 3"/>
          <p:cNvSpPr/>
          <p:nvPr/>
        </p:nvSpPr>
        <p:spPr>
          <a:xfrm>
            <a:off x="1325880" y="731520"/>
            <a:ext cx="548640" cy="548640"/>
          </a:xfrm>
          <a:prstGeom prst="ellipse">
            <a:avLst/>
          </a:prstGeom>
          <a:solidFill>
            <a:srgbClr val="21A0C1"/>
          </a:solidFill>
          <a:ln/>
        </p:spPr>
      </p:sp>
      <p:sp>
        <p:nvSpPr>
          <p:cNvPr id="6" name="Text 4"/>
          <p:cNvSpPr/>
          <p:nvPr/>
        </p:nvSpPr>
        <p:spPr>
          <a:xfrm>
            <a:off x="1325880" y="73152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Text 5"/>
          <p:cNvSpPr/>
          <p:nvPr/>
        </p:nvSpPr>
        <p:spPr>
          <a:xfrm>
            <a:off x="365760" y="1051560"/>
            <a:ext cx="24688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Deploy</a:t>
            </a:r>
            <a:endParaRPr lang="en-US" sz="1600" dirty="0"/>
          </a:p>
        </p:txBody>
      </p:sp>
      <p:sp>
        <p:nvSpPr>
          <p:cNvPr id="8" name="Text 6"/>
          <p:cNvSpPr/>
          <p:nvPr/>
        </p:nvSpPr>
        <p:spPr>
          <a:xfrm>
            <a:off x="365760" y="1508760"/>
            <a:ext cx="2468880" cy="1188720"/>
          </a:xfrm>
          <a:prstGeom prst="rect">
            <a:avLst/>
          </a:prstGeom>
          <a:noFill/>
          <a:ln/>
        </p:spPr>
        <p:txBody>
          <a:bodyPr wrap="square" rtlCol="0" anchor="ctr"/>
          <a:lstStyle/>
          <a:p>
            <a:pPr marL="0" indent="0" algn="ctr">
              <a:buNone/>
            </a:pPr>
            <a:r>
              <a:rPr lang="en-US" sz="1100" dirty="0">
                <a:solidFill>
                  <a:srgbClr val="D0E4EE"/>
                </a:solidFill>
                <a:latin typeface="Calibri" pitchFamily="34" charset="0"/>
                <a:ea typeface="Calibri" pitchFamily="34" charset="-122"/>
                <a:cs typeface="Calibri" pitchFamily="34" charset="-120"/>
              </a:rPr>
              <a:t>Owner deploys with goal + duration</a:t>
            </a:r>
            <a:endParaRPr lang="en-US" sz="1100" dirty="0"/>
          </a:p>
          <a:p>
            <a:pPr marL="0" indent="0" algn="ctr">
              <a:buNone/>
            </a:pPr>
            <a:r>
              <a:rPr lang="en-US" sz="1100" dirty="0">
                <a:solidFill>
                  <a:srgbClr val="D0E4EE"/>
                </a:solidFill>
                <a:latin typeface="Calibri" pitchFamily="34" charset="0"/>
                <a:ea typeface="Calibri" pitchFamily="34" charset="-122"/>
                <a:cs typeface="Calibri" pitchFamily="34" charset="-120"/>
              </a:rPr>
              <a:t>deadline = block.timestamp + duration</a:t>
            </a:r>
            <a:endParaRPr lang="en-US" sz="1100" dirty="0"/>
          </a:p>
        </p:txBody>
      </p:sp>
      <p:sp>
        <p:nvSpPr>
          <p:cNvPr id="9" name="Shape 7"/>
          <p:cNvSpPr/>
          <p:nvPr/>
        </p:nvSpPr>
        <p:spPr>
          <a:xfrm>
            <a:off x="2971800" y="1920240"/>
            <a:ext cx="228600" cy="0"/>
          </a:xfrm>
          <a:prstGeom prst="line">
            <a:avLst/>
          </a:prstGeom>
          <a:noFill/>
          <a:ln w="31750">
            <a:solidFill>
              <a:srgbClr val="21A0C1"/>
            </a:solidFill>
            <a:prstDash val="solid"/>
          </a:ln>
        </p:spPr>
      </p:sp>
      <p:sp>
        <p:nvSpPr>
          <p:cNvPr id="10" name="Shape 8"/>
          <p:cNvSpPr/>
          <p:nvPr/>
        </p:nvSpPr>
        <p:spPr>
          <a:xfrm>
            <a:off x="3200400" y="960120"/>
            <a:ext cx="2651760" cy="1920240"/>
          </a:xfrm>
          <a:prstGeom prst="rect">
            <a:avLst/>
          </a:prstGeom>
          <a:solidFill>
            <a:srgbClr val="065A82"/>
          </a:solidFill>
          <a:ln/>
          <a:effectLst>
            <a:outerShdw blurRad="101600" dist="38100" dir="8100000" algn="bl" rotWithShape="0">
              <a:srgbClr val="000000">
                <a:alpha val="18000"/>
              </a:srgbClr>
            </a:outerShdw>
          </a:effectLst>
        </p:spPr>
      </p:sp>
      <p:sp>
        <p:nvSpPr>
          <p:cNvPr id="11" name="Shape 9"/>
          <p:cNvSpPr/>
          <p:nvPr/>
        </p:nvSpPr>
        <p:spPr>
          <a:xfrm>
            <a:off x="4251960" y="731520"/>
            <a:ext cx="548640" cy="548640"/>
          </a:xfrm>
          <a:prstGeom prst="ellipse">
            <a:avLst/>
          </a:prstGeom>
          <a:solidFill>
            <a:srgbClr val="21A0C1"/>
          </a:solidFill>
          <a:ln/>
        </p:spPr>
      </p:sp>
      <p:sp>
        <p:nvSpPr>
          <p:cNvPr id="12" name="Text 10"/>
          <p:cNvSpPr/>
          <p:nvPr/>
        </p:nvSpPr>
        <p:spPr>
          <a:xfrm>
            <a:off x="4251960" y="73152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3" name="Text 11"/>
          <p:cNvSpPr/>
          <p:nvPr/>
        </p:nvSpPr>
        <p:spPr>
          <a:xfrm>
            <a:off x="3291840" y="1051560"/>
            <a:ext cx="24688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Contribute</a:t>
            </a:r>
            <a:endParaRPr lang="en-US" sz="1600" dirty="0"/>
          </a:p>
        </p:txBody>
      </p:sp>
      <p:sp>
        <p:nvSpPr>
          <p:cNvPr id="14" name="Text 12"/>
          <p:cNvSpPr/>
          <p:nvPr/>
        </p:nvSpPr>
        <p:spPr>
          <a:xfrm>
            <a:off x="3291840" y="1508760"/>
            <a:ext cx="2468880" cy="1188720"/>
          </a:xfrm>
          <a:prstGeom prst="rect">
            <a:avLst/>
          </a:prstGeom>
          <a:noFill/>
          <a:ln/>
        </p:spPr>
        <p:txBody>
          <a:bodyPr wrap="square" rtlCol="0" anchor="ctr"/>
          <a:lstStyle/>
          <a:p>
            <a:pPr marL="0" indent="0" algn="ctr">
              <a:buNone/>
            </a:pPr>
            <a:r>
              <a:rPr lang="en-US" sz="1100" dirty="0">
                <a:solidFill>
                  <a:srgbClr val="D0E4EE"/>
                </a:solidFill>
                <a:latin typeface="Calibri" pitchFamily="34" charset="0"/>
                <a:ea typeface="Calibri" pitchFamily="34" charset="-122"/>
                <a:cs typeface="Calibri" pitchFamily="34" charset="-120"/>
              </a:rPr>
              <a:t>Backers call contribute() with ETH</a:t>
            </a:r>
            <a:endParaRPr lang="en-US" sz="1100" dirty="0"/>
          </a:p>
          <a:p>
            <a:pPr marL="0" indent="0" algn="ctr">
              <a:buNone/>
            </a:pPr>
            <a:r>
              <a:rPr lang="en-US" sz="1100" dirty="0">
                <a:solidFill>
                  <a:srgbClr val="D0E4EE"/>
                </a:solidFill>
                <a:latin typeface="Calibri" pitchFamily="34" charset="0"/>
                <a:ea typeface="Calibri" pitchFamily="34" charset="-122"/>
                <a:cs typeface="Calibri" pitchFamily="34" charset="-120"/>
              </a:rPr>
              <a:t>Tier assigned, events emitted</a:t>
            </a:r>
            <a:endParaRPr lang="en-US" sz="1100" dirty="0"/>
          </a:p>
        </p:txBody>
      </p:sp>
      <p:sp>
        <p:nvSpPr>
          <p:cNvPr id="15" name="Shape 13"/>
          <p:cNvSpPr/>
          <p:nvPr/>
        </p:nvSpPr>
        <p:spPr>
          <a:xfrm>
            <a:off x="5897880" y="1920240"/>
            <a:ext cx="228600" cy="0"/>
          </a:xfrm>
          <a:prstGeom prst="line">
            <a:avLst/>
          </a:prstGeom>
          <a:noFill/>
          <a:ln w="31750">
            <a:solidFill>
              <a:srgbClr val="21A0C1"/>
            </a:solidFill>
            <a:prstDash val="solid"/>
          </a:ln>
        </p:spPr>
      </p:sp>
      <p:sp>
        <p:nvSpPr>
          <p:cNvPr id="16" name="Shape 14"/>
          <p:cNvSpPr/>
          <p:nvPr/>
        </p:nvSpPr>
        <p:spPr>
          <a:xfrm>
            <a:off x="6126480" y="960120"/>
            <a:ext cx="2651760" cy="1920240"/>
          </a:xfrm>
          <a:prstGeom prst="rect">
            <a:avLst/>
          </a:prstGeom>
          <a:solidFill>
            <a:srgbClr val="065A82"/>
          </a:solidFill>
          <a:ln/>
          <a:effectLst>
            <a:outerShdw blurRad="101600" dist="38100" dir="8100000" algn="bl" rotWithShape="0">
              <a:srgbClr val="000000">
                <a:alpha val="18000"/>
              </a:srgbClr>
            </a:outerShdw>
          </a:effectLst>
        </p:spPr>
      </p:sp>
      <p:sp>
        <p:nvSpPr>
          <p:cNvPr id="17" name="Shape 15"/>
          <p:cNvSpPr/>
          <p:nvPr/>
        </p:nvSpPr>
        <p:spPr>
          <a:xfrm>
            <a:off x="7178040" y="731520"/>
            <a:ext cx="548640" cy="548640"/>
          </a:xfrm>
          <a:prstGeom prst="ellipse">
            <a:avLst/>
          </a:prstGeom>
          <a:solidFill>
            <a:srgbClr val="21A0C1"/>
          </a:solidFill>
          <a:ln/>
        </p:spPr>
      </p:sp>
      <p:sp>
        <p:nvSpPr>
          <p:cNvPr id="18" name="Text 16"/>
          <p:cNvSpPr/>
          <p:nvPr/>
        </p:nvSpPr>
        <p:spPr>
          <a:xfrm>
            <a:off x="7178040" y="73152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9" name="Text 17"/>
          <p:cNvSpPr/>
          <p:nvPr/>
        </p:nvSpPr>
        <p:spPr>
          <a:xfrm>
            <a:off x="6217920" y="1051560"/>
            <a:ext cx="24688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Deadline</a:t>
            </a:r>
            <a:endParaRPr lang="en-US" sz="1600" dirty="0"/>
          </a:p>
        </p:txBody>
      </p:sp>
      <p:sp>
        <p:nvSpPr>
          <p:cNvPr id="20" name="Text 18"/>
          <p:cNvSpPr/>
          <p:nvPr/>
        </p:nvSpPr>
        <p:spPr>
          <a:xfrm>
            <a:off x="6217920" y="1508760"/>
            <a:ext cx="2468880" cy="1188720"/>
          </a:xfrm>
          <a:prstGeom prst="rect">
            <a:avLst/>
          </a:prstGeom>
          <a:noFill/>
          <a:ln/>
        </p:spPr>
        <p:txBody>
          <a:bodyPr wrap="square" rtlCol="0" anchor="ctr"/>
          <a:lstStyle/>
          <a:p>
            <a:pPr marL="0" indent="0" algn="ctr">
              <a:buNone/>
            </a:pPr>
            <a:r>
              <a:rPr lang="en-US" sz="1100" dirty="0">
                <a:solidFill>
                  <a:srgbClr val="D0E4EE"/>
                </a:solidFill>
                <a:latin typeface="Calibri" pitchFamily="34" charset="0"/>
                <a:ea typeface="Calibri" pitchFamily="34" charset="-122"/>
                <a:cs typeface="Calibri" pitchFamily="34" charset="-120"/>
              </a:rPr>
              <a:t>block.timestamp &gt;= deadline</a:t>
            </a:r>
            <a:endParaRPr lang="en-US" sz="1100" dirty="0"/>
          </a:p>
          <a:p>
            <a:pPr marL="0" indent="0" algn="ctr">
              <a:buNone/>
            </a:pPr>
            <a:r>
              <a:rPr lang="en-US" sz="1100" dirty="0">
                <a:solidFill>
                  <a:srgbClr val="D0E4EE"/>
                </a:solidFill>
                <a:latin typeface="Calibri" pitchFamily="34" charset="0"/>
                <a:ea typeface="Calibri" pitchFamily="34" charset="-122"/>
                <a:cs typeface="Calibri" pitchFamily="34" charset="-120"/>
              </a:rPr>
              <a:t>beforeDeadline blocks new contributions</a:t>
            </a:r>
            <a:endParaRPr lang="en-US" sz="1100" dirty="0"/>
          </a:p>
        </p:txBody>
      </p:sp>
      <p:sp>
        <p:nvSpPr>
          <p:cNvPr id="21" name="Text 19"/>
          <p:cNvSpPr/>
          <p:nvPr/>
        </p:nvSpPr>
        <p:spPr>
          <a:xfrm>
            <a:off x="3291840" y="3108960"/>
            <a:ext cx="2560320" cy="320040"/>
          </a:xfrm>
          <a:prstGeom prst="rect">
            <a:avLst/>
          </a:prstGeom>
          <a:noFill/>
          <a:ln/>
        </p:spPr>
        <p:txBody>
          <a:bodyPr wrap="square" rtlCol="0" anchor="ctr"/>
          <a:lstStyle/>
          <a:p>
            <a:pPr marL="0" indent="0" algn="ctr">
              <a:buNone/>
            </a:pPr>
            <a:r>
              <a:rPr lang="en-US" sz="1300" b="1" dirty="0">
                <a:solidFill>
                  <a:srgbClr val="21A0C1"/>
                </a:solidFill>
                <a:latin typeface="Calibri" pitchFamily="34" charset="0"/>
                <a:ea typeface="Calibri" pitchFamily="34" charset="-122"/>
                <a:cs typeface="Calibri" pitchFamily="34" charset="-120"/>
              </a:rPr>
              <a:t>SETTLEMENT</a:t>
            </a:r>
            <a:endParaRPr lang="en-US" sz="1300" dirty="0"/>
          </a:p>
        </p:txBody>
      </p:sp>
      <p:sp>
        <p:nvSpPr>
          <p:cNvPr id="22" name="Shape 20"/>
          <p:cNvSpPr/>
          <p:nvPr/>
        </p:nvSpPr>
        <p:spPr>
          <a:xfrm>
            <a:off x="274320" y="3520440"/>
            <a:ext cx="3931920" cy="1234440"/>
          </a:xfrm>
          <a:prstGeom prst="rect">
            <a:avLst/>
          </a:prstGeom>
          <a:solidFill>
            <a:srgbClr val="27AE60"/>
          </a:solidFill>
          <a:ln/>
          <a:effectLst>
            <a:outerShdw blurRad="101600" dist="38100" dir="8100000" algn="bl" rotWithShape="0">
              <a:srgbClr val="000000">
                <a:alpha val="18000"/>
              </a:srgbClr>
            </a:outerShdw>
          </a:effectLst>
        </p:spPr>
      </p:sp>
      <p:sp>
        <p:nvSpPr>
          <p:cNvPr id="23" name="Text 21"/>
          <p:cNvSpPr/>
          <p:nvPr/>
        </p:nvSpPr>
        <p:spPr>
          <a:xfrm>
            <a:off x="274320" y="3520440"/>
            <a:ext cx="3931920" cy="123444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  SUCCESS PATH</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GoalReached = true</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Owner calls withdraw()</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Funds transferred to owner</a:t>
            </a:r>
            <a:endParaRPr lang="en-US" sz="1200" dirty="0"/>
          </a:p>
        </p:txBody>
      </p:sp>
      <p:sp>
        <p:nvSpPr>
          <p:cNvPr id="24" name="Shape 22"/>
          <p:cNvSpPr/>
          <p:nvPr/>
        </p:nvSpPr>
        <p:spPr>
          <a:xfrm>
            <a:off x="4937760" y="3520440"/>
            <a:ext cx="3931920" cy="1234440"/>
          </a:xfrm>
          <a:prstGeom prst="rect">
            <a:avLst/>
          </a:prstGeom>
          <a:solidFill>
            <a:srgbClr val="E74C3C"/>
          </a:solidFill>
          <a:ln/>
          <a:effectLst>
            <a:outerShdw blurRad="101600" dist="38100" dir="8100000" algn="bl" rotWithShape="0">
              <a:srgbClr val="000000">
                <a:alpha val="18000"/>
              </a:srgbClr>
            </a:outerShdw>
          </a:effectLst>
        </p:spPr>
      </p:sp>
      <p:sp>
        <p:nvSpPr>
          <p:cNvPr id="25" name="Text 23"/>
          <p:cNvSpPr/>
          <p:nvPr/>
        </p:nvSpPr>
        <p:spPr>
          <a:xfrm>
            <a:off x="4937760" y="3520440"/>
            <a:ext cx="3931920" cy="123444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  FAILURE PATH</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GoalReached = false</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Contributors call refund()</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Full ETH returned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2A"/>
          </a:solidFill>
          <a:ln/>
        </p:spPr>
      </p:sp>
      <p:sp>
        <p:nvSpPr>
          <p:cNvPr id="3" name="Text 1"/>
          <p:cNvSpPr/>
          <p:nvPr/>
        </p:nvSpPr>
        <p:spPr>
          <a:xfrm>
            <a:off x="365760" y="0"/>
            <a:ext cx="8229600" cy="7772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Security Considerations</a:t>
            </a:r>
            <a:endParaRPr lang="en-US" sz="2800" dirty="0"/>
          </a:p>
        </p:txBody>
      </p:sp>
      <p:sp>
        <p:nvSpPr>
          <p:cNvPr id="4" name="Shape 2"/>
          <p:cNvSpPr/>
          <p:nvPr/>
        </p:nvSpPr>
        <p:spPr>
          <a:xfrm>
            <a:off x="228600" y="914400"/>
            <a:ext cx="4114800" cy="1783080"/>
          </a:xfrm>
          <a:prstGeom prst="rect">
            <a:avLst/>
          </a:prstGeom>
          <a:solidFill>
            <a:srgbClr val="E8F4F8"/>
          </a:solidFill>
          <a:ln/>
          <a:effectLst>
            <a:outerShdw blurRad="101600" dist="38100" dir="8100000" algn="bl" rotWithShape="0">
              <a:srgbClr val="000000">
                <a:alpha val="18000"/>
              </a:srgbClr>
            </a:outerShdw>
          </a:effectLst>
        </p:spPr>
      </p:sp>
      <p:sp>
        <p:nvSpPr>
          <p:cNvPr id="5" name="Shape 3"/>
          <p:cNvSpPr/>
          <p:nvPr/>
        </p:nvSpPr>
        <p:spPr>
          <a:xfrm>
            <a:off x="228600" y="914400"/>
            <a:ext cx="4114800" cy="91440"/>
          </a:xfrm>
          <a:prstGeom prst="rect">
            <a:avLst/>
          </a:prstGeom>
          <a:solidFill>
            <a:srgbClr val="1C7293"/>
          </a:solidFill>
          <a:ln/>
        </p:spPr>
      </p:sp>
      <p:sp>
        <p:nvSpPr>
          <p:cNvPr id="6" name="Shape 4"/>
          <p:cNvSpPr/>
          <p:nvPr/>
        </p:nvSpPr>
        <p:spPr>
          <a:xfrm>
            <a:off x="320040" y="1097280"/>
            <a:ext cx="457200" cy="457200"/>
          </a:xfrm>
          <a:prstGeom prst="ellipse">
            <a:avLst/>
          </a:prstGeom>
          <a:solidFill>
            <a:srgbClr val="1C7293"/>
          </a:solidFill>
          <a:ln/>
        </p:spPr>
      </p:sp>
      <p:sp>
        <p:nvSpPr>
          <p:cNvPr id="7" name="Text 5"/>
          <p:cNvSpPr/>
          <p:nvPr/>
        </p:nvSpPr>
        <p:spPr>
          <a:xfrm>
            <a:off x="320040" y="1097280"/>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8" name="Text 6"/>
          <p:cNvSpPr/>
          <p:nvPr/>
        </p:nvSpPr>
        <p:spPr>
          <a:xfrm>
            <a:off x="868680" y="1078992"/>
            <a:ext cx="3291840" cy="41148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Reentrancy — CEI Pattern</a:t>
            </a:r>
            <a:endParaRPr lang="en-US" sz="1300" dirty="0"/>
          </a:p>
        </p:txBody>
      </p:sp>
      <p:sp>
        <p:nvSpPr>
          <p:cNvPr id="9" name="Text 7"/>
          <p:cNvSpPr/>
          <p:nvPr/>
        </p:nvSpPr>
        <p:spPr>
          <a:xfrm>
            <a:off x="868680" y="1508760"/>
            <a:ext cx="3337560" cy="1051560"/>
          </a:xfrm>
          <a:prstGeom prst="rect">
            <a:avLst/>
          </a:prstGeom>
          <a:noFill/>
          <a:ln/>
        </p:spPr>
        <p:txBody>
          <a:bodyPr wrap="square" rtlCol="0" anchor="ctr"/>
          <a:lstStyle/>
          <a:p>
            <a:pPr marL="0" indent="0">
              <a:buNone/>
            </a:pPr>
            <a:r>
              <a:rPr lang="en-US" sz="1100" dirty="0">
                <a:solidFill>
                  <a:srgbClr val="8899AA"/>
                </a:solidFill>
                <a:latin typeface="Calibri" pitchFamily="34" charset="0"/>
                <a:ea typeface="Calibri" pitchFamily="34" charset="-122"/>
                <a:cs typeface="Calibri" pitchFamily="34" charset="-120"/>
              </a:rPr>
              <a:t>State changes happen BEFORE external calls</a:t>
            </a:r>
            <a:endParaRPr lang="en-US" sz="1100" dirty="0"/>
          </a:p>
          <a:p>
            <a:pPr marL="0" indent="0">
              <a:buNone/>
            </a:pPr>
            <a:r>
              <a:rPr lang="en-US" sz="1100" dirty="0">
                <a:solidFill>
                  <a:srgbClr val="8899AA"/>
                </a:solidFill>
                <a:latin typeface="Calibri" pitchFamily="34" charset="0"/>
                <a:ea typeface="Calibri" pitchFamily="34" charset="-122"/>
                <a:cs typeface="Calibri" pitchFamily="34" charset="-120"/>
              </a:rPr>
              <a:t>c.refunded = true; c.amount = 0; set first</a:t>
            </a:r>
            <a:endParaRPr lang="en-US" sz="1100" dirty="0"/>
          </a:p>
          <a:p>
            <a:pPr marL="0" indent="0">
              <a:buNone/>
            </a:pPr>
            <a:r>
              <a:rPr lang="en-US" sz="1100" dirty="0">
                <a:solidFill>
                  <a:srgbClr val="8899AA"/>
                </a:solidFill>
                <a:latin typeface="Calibri" pitchFamily="34" charset="0"/>
                <a:ea typeface="Calibri" pitchFamily="34" charset="-122"/>
                <a:cs typeface="Calibri" pitchFamily="34" charset="-120"/>
              </a:rPr>
              <a:t>Malicious re-entry finds no funds to claim</a:t>
            </a:r>
            <a:endParaRPr lang="en-US" sz="1100" dirty="0"/>
          </a:p>
          <a:p>
            <a:pPr marL="0" indent="0">
              <a:buNone/>
            </a:pPr>
            <a:r>
              <a:rPr lang="en-US" sz="1100" dirty="0">
                <a:solidFill>
                  <a:srgbClr val="8899AA"/>
                </a:solidFill>
                <a:latin typeface="Calibri" pitchFamily="34" charset="0"/>
                <a:ea typeface="Calibri" pitchFamily="34" charset="-122"/>
                <a:cs typeface="Calibri" pitchFamily="34" charset="-120"/>
              </a:rPr>
              <a:t>Mirrors OpenZeppelin ReentrancyGuard logic</a:t>
            </a:r>
            <a:endParaRPr lang="en-US" sz="1100" dirty="0"/>
          </a:p>
        </p:txBody>
      </p:sp>
      <p:sp>
        <p:nvSpPr>
          <p:cNvPr id="10" name="Shape 8"/>
          <p:cNvSpPr/>
          <p:nvPr/>
        </p:nvSpPr>
        <p:spPr>
          <a:xfrm>
            <a:off x="4663440" y="914400"/>
            <a:ext cx="4114800" cy="1783080"/>
          </a:xfrm>
          <a:prstGeom prst="rect">
            <a:avLst/>
          </a:prstGeom>
          <a:solidFill>
            <a:srgbClr val="E8F4F8"/>
          </a:solidFill>
          <a:ln/>
          <a:effectLst>
            <a:outerShdw blurRad="101600" dist="38100" dir="8100000" algn="bl" rotWithShape="0">
              <a:srgbClr val="000000">
                <a:alpha val="18000"/>
              </a:srgbClr>
            </a:outerShdw>
          </a:effectLst>
        </p:spPr>
      </p:sp>
      <p:sp>
        <p:nvSpPr>
          <p:cNvPr id="11" name="Shape 9"/>
          <p:cNvSpPr/>
          <p:nvPr/>
        </p:nvSpPr>
        <p:spPr>
          <a:xfrm>
            <a:off x="4663440" y="914400"/>
            <a:ext cx="4114800" cy="91440"/>
          </a:xfrm>
          <a:prstGeom prst="rect">
            <a:avLst/>
          </a:prstGeom>
          <a:solidFill>
            <a:srgbClr val="065A82"/>
          </a:solidFill>
          <a:ln/>
        </p:spPr>
      </p:sp>
      <p:sp>
        <p:nvSpPr>
          <p:cNvPr id="12" name="Shape 10"/>
          <p:cNvSpPr/>
          <p:nvPr/>
        </p:nvSpPr>
        <p:spPr>
          <a:xfrm>
            <a:off x="4754880" y="1097280"/>
            <a:ext cx="457200" cy="457200"/>
          </a:xfrm>
          <a:prstGeom prst="ellipse">
            <a:avLst/>
          </a:prstGeom>
          <a:solidFill>
            <a:srgbClr val="065A82"/>
          </a:solidFill>
          <a:ln/>
        </p:spPr>
      </p:sp>
      <p:sp>
        <p:nvSpPr>
          <p:cNvPr id="13" name="Text 11"/>
          <p:cNvSpPr/>
          <p:nvPr/>
        </p:nvSpPr>
        <p:spPr>
          <a:xfrm>
            <a:off x="4754880" y="1097280"/>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4" name="Text 12"/>
          <p:cNvSpPr/>
          <p:nvPr/>
        </p:nvSpPr>
        <p:spPr>
          <a:xfrm>
            <a:off x="5303520" y="1078992"/>
            <a:ext cx="3291840" cy="41148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Input Validation — require()</a:t>
            </a:r>
            <a:endParaRPr lang="en-US" sz="1300" dirty="0"/>
          </a:p>
        </p:txBody>
      </p:sp>
      <p:sp>
        <p:nvSpPr>
          <p:cNvPr id="15" name="Text 13"/>
          <p:cNvSpPr/>
          <p:nvPr/>
        </p:nvSpPr>
        <p:spPr>
          <a:xfrm>
            <a:off x="5303520" y="1508760"/>
            <a:ext cx="3337560" cy="1051560"/>
          </a:xfrm>
          <a:prstGeom prst="rect">
            <a:avLst/>
          </a:prstGeom>
          <a:noFill/>
          <a:ln/>
        </p:spPr>
        <p:txBody>
          <a:bodyPr wrap="square" rtlCol="0" anchor="ctr"/>
          <a:lstStyle/>
          <a:p>
            <a:pPr marL="0" indent="0">
              <a:buNone/>
            </a:pPr>
            <a:r>
              <a:rPr lang="en-US" sz="1100" dirty="0">
                <a:solidFill>
                  <a:srgbClr val="8899AA"/>
                </a:solidFill>
                <a:latin typeface="Calibri" pitchFamily="34" charset="0"/>
                <a:ea typeface="Calibri" pitchFamily="34" charset="-122"/>
                <a:cs typeface="Calibri" pitchFamily="34" charset="-120"/>
              </a:rPr>
              <a:t>Every entry point gated with require()</a:t>
            </a:r>
            <a:endParaRPr lang="en-US" sz="1100" dirty="0"/>
          </a:p>
          <a:p>
            <a:pPr marL="0" indent="0">
              <a:buNone/>
            </a:pPr>
            <a:r>
              <a:rPr lang="en-US" sz="1100" dirty="0">
                <a:solidFill>
                  <a:srgbClr val="8899AA"/>
                </a:solidFill>
                <a:latin typeface="Calibri" pitchFamily="34" charset="0"/>
                <a:ea typeface="Calibri" pitchFamily="34" charset="-122"/>
                <a:cs typeface="Calibri" pitchFamily="34" charset="-120"/>
              </a:rPr>
              <a:t>Prevents zero-value contributions</a:t>
            </a:r>
            <a:endParaRPr lang="en-US" sz="1100" dirty="0"/>
          </a:p>
          <a:p>
            <a:pPr marL="0" indent="0">
              <a:buNone/>
            </a:pPr>
            <a:r>
              <a:rPr lang="en-US" sz="1100" dirty="0">
                <a:solidFill>
                  <a:srgbClr val="8899AA"/>
                </a:solidFill>
                <a:latin typeface="Calibri" pitchFamily="34" charset="0"/>
                <a:ea typeface="Calibri" pitchFamily="34" charset="-122"/>
                <a:cs typeface="Calibri" pitchFamily="34" charset="-120"/>
              </a:rPr>
              <a:t>Blocks unauthorized withdrawal</a:t>
            </a:r>
            <a:endParaRPr lang="en-US" sz="1100" dirty="0"/>
          </a:p>
          <a:p>
            <a:pPr marL="0" indent="0">
              <a:buNone/>
            </a:pPr>
            <a:r>
              <a:rPr lang="en-US" sz="1100" dirty="0">
                <a:solidFill>
                  <a:srgbClr val="8899AA"/>
                </a:solidFill>
                <a:latin typeface="Calibri" pitchFamily="34" charset="0"/>
                <a:ea typeface="Calibri" pitchFamily="34" charset="-122"/>
                <a:cs typeface="Calibri" pitchFamily="34" charset="-120"/>
              </a:rPr>
              <a:t>Double-refund: refunded flag + amount = 0</a:t>
            </a:r>
            <a:endParaRPr lang="en-US" sz="1100" dirty="0"/>
          </a:p>
        </p:txBody>
      </p:sp>
      <p:sp>
        <p:nvSpPr>
          <p:cNvPr id="16" name="Shape 14"/>
          <p:cNvSpPr/>
          <p:nvPr/>
        </p:nvSpPr>
        <p:spPr>
          <a:xfrm>
            <a:off x="228600" y="2880360"/>
            <a:ext cx="4114800" cy="1783080"/>
          </a:xfrm>
          <a:prstGeom prst="rect">
            <a:avLst/>
          </a:prstGeom>
          <a:solidFill>
            <a:srgbClr val="E8F4F8"/>
          </a:solidFill>
          <a:ln/>
          <a:effectLst>
            <a:outerShdw blurRad="101600" dist="38100" dir="8100000" algn="bl" rotWithShape="0">
              <a:srgbClr val="000000">
                <a:alpha val="18000"/>
              </a:srgbClr>
            </a:outerShdw>
          </a:effectLst>
        </p:spPr>
      </p:sp>
      <p:sp>
        <p:nvSpPr>
          <p:cNvPr id="17" name="Shape 15"/>
          <p:cNvSpPr/>
          <p:nvPr/>
        </p:nvSpPr>
        <p:spPr>
          <a:xfrm>
            <a:off x="228600" y="2880360"/>
            <a:ext cx="4114800" cy="91440"/>
          </a:xfrm>
          <a:prstGeom prst="rect">
            <a:avLst/>
          </a:prstGeom>
          <a:solidFill>
            <a:srgbClr val="8E44AD"/>
          </a:solidFill>
          <a:ln/>
        </p:spPr>
      </p:sp>
      <p:sp>
        <p:nvSpPr>
          <p:cNvPr id="18" name="Shape 16"/>
          <p:cNvSpPr/>
          <p:nvPr/>
        </p:nvSpPr>
        <p:spPr>
          <a:xfrm>
            <a:off x="320040" y="3063240"/>
            <a:ext cx="457200" cy="457200"/>
          </a:xfrm>
          <a:prstGeom prst="ellipse">
            <a:avLst/>
          </a:prstGeom>
          <a:solidFill>
            <a:srgbClr val="8E44AD"/>
          </a:solidFill>
          <a:ln/>
        </p:spPr>
      </p:sp>
      <p:sp>
        <p:nvSpPr>
          <p:cNvPr id="19" name="Text 17"/>
          <p:cNvSpPr/>
          <p:nvPr/>
        </p:nvSpPr>
        <p:spPr>
          <a:xfrm>
            <a:off x="320040" y="3063240"/>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0" name="Text 18"/>
          <p:cNvSpPr/>
          <p:nvPr/>
        </p:nvSpPr>
        <p:spPr>
          <a:xfrm>
            <a:off x="868680" y="3044952"/>
            <a:ext cx="3291840" cy="41148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Access Control — onlyOwner</a:t>
            </a:r>
            <a:endParaRPr lang="en-US" sz="1300" dirty="0"/>
          </a:p>
        </p:txBody>
      </p:sp>
      <p:sp>
        <p:nvSpPr>
          <p:cNvPr id="21" name="Text 19"/>
          <p:cNvSpPr/>
          <p:nvPr/>
        </p:nvSpPr>
        <p:spPr>
          <a:xfrm>
            <a:off x="868680" y="3474720"/>
            <a:ext cx="3337560" cy="1051560"/>
          </a:xfrm>
          <a:prstGeom prst="rect">
            <a:avLst/>
          </a:prstGeom>
          <a:noFill/>
          <a:ln/>
        </p:spPr>
        <p:txBody>
          <a:bodyPr wrap="square" rtlCol="0" anchor="ctr"/>
          <a:lstStyle/>
          <a:p>
            <a:pPr marL="0" indent="0">
              <a:buNone/>
            </a:pPr>
            <a:r>
              <a:rPr lang="en-US" sz="1100" dirty="0">
                <a:solidFill>
                  <a:srgbClr val="8899AA"/>
                </a:solidFill>
                <a:latin typeface="Calibri" pitchFamily="34" charset="0"/>
                <a:ea typeface="Calibri" pitchFamily="34" charset="-122"/>
                <a:cs typeface="Calibri" pitchFamily="34" charset="-120"/>
              </a:rPr>
              <a:t>Owner address is immutable after deploy</a:t>
            </a:r>
            <a:endParaRPr lang="en-US" sz="1100" dirty="0"/>
          </a:p>
          <a:p>
            <a:pPr marL="0" indent="0">
              <a:buNone/>
            </a:pPr>
            <a:r>
              <a:rPr lang="en-US" sz="1100" dirty="0">
                <a:solidFill>
                  <a:srgbClr val="8899AA"/>
                </a:solidFill>
                <a:latin typeface="Calibri" pitchFamily="34" charset="0"/>
                <a:ea typeface="Calibri" pitchFamily="34" charset="-122"/>
                <a:cs typeface="Calibri" pitchFamily="34" charset="-120"/>
              </a:rPr>
              <a:t>Cannot be overwritten or changed</a:t>
            </a:r>
            <a:endParaRPr lang="en-US" sz="1100" dirty="0"/>
          </a:p>
          <a:p>
            <a:pPr marL="0" indent="0">
              <a:buNone/>
            </a:pPr>
            <a:r>
              <a:rPr lang="en-US" sz="1100" dirty="0">
                <a:solidFill>
                  <a:srgbClr val="8899AA"/>
                </a:solidFill>
                <a:latin typeface="Calibri" pitchFamily="34" charset="0"/>
                <a:ea typeface="Calibri" pitchFamily="34" charset="-122"/>
                <a:cs typeface="Calibri" pitchFamily="34" charset="-120"/>
              </a:rPr>
              <a:t>Only deployer can withdraw or expire</a:t>
            </a:r>
            <a:endParaRPr lang="en-US" sz="1100" dirty="0"/>
          </a:p>
          <a:p>
            <a:pPr marL="0" indent="0">
              <a:buNone/>
            </a:pPr>
            <a:r>
              <a:rPr lang="en-US" sz="1100" dirty="0">
                <a:solidFill>
                  <a:srgbClr val="8899AA"/>
                </a:solidFill>
                <a:latin typeface="Calibri" pitchFamily="34" charset="0"/>
                <a:ea typeface="Calibri" pitchFamily="34" charset="-122"/>
                <a:cs typeface="Calibri" pitchFamily="34" charset="-120"/>
              </a:rPr>
              <a:t>Separate guards for each sensitive function</a:t>
            </a:r>
            <a:endParaRPr lang="en-US" sz="1100" dirty="0"/>
          </a:p>
        </p:txBody>
      </p:sp>
      <p:sp>
        <p:nvSpPr>
          <p:cNvPr id="22" name="Shape 20"/>
          <p:cNvSpPr/>
          <p:nvPr/>
        </p:nvSpPr>
        <p:spPr>
          <a:xfrm>
            <a:off x="4663440" y="2880360"/>
            <a:ext cx="4114800" cy="1783080"/>
          </a:xfrm>
          <a:prstGeom prst="rect">
            <a:avLst/>
          </a:prstGeom>
          <a:solidFill>
            <a:srgbClr val="E8F4F8"/>
          </a:solidFill>
          <a:ln/>
          <a:effectLst>
            <a:outerShdw blurRad="101600" dist="38100" dir="8100000" algn="bl" rotWithShape="0">
              <a:srgbClr val="000000">
                <a:alpha val="18000"/>
              </a:srgbClr>
            </a:outerShdw>
          </a:effectLst>
        </p:spPr>
      </p:sp>
      <p:sp>
        <p:nvSpPr>
          <p:cNvPr id="23" name="Shape 21"/>
          <p:cNvSpPr/>
          <p:nvPr/>
        </p:nvSpPr>
        <p:spPr>
          <a:xfrm>
            <a:off x="4663440" y="2880360"/>
            <a:ext cx="4114800" cy="91440"/>
          </a:xfrm>
          <a:prstGeom prst="rect">
            <a:avLst/>
          </a:prstGeom>
          <a:solidFill>
            <a:srgbClr val="E67E22"/>
          </a:solidFill>
          <a:ln/>
        </p:spPr>
      </p:sp>
      <p:sp>
        <p:nvSpPr>
          <p:cNvPr id="24" name="Shape 22"/>
          <p:cNvSpPr/>
          <p:nvPr/>
        </p:nvSpPr>
        <p:spPr>
          <a:xfrm>
            <a:off x="4754880" y="3063240"/>
            <a:ext cx="457200" cy="457200"/>
          </a:xfrm>
          <a:prstGeom prst="ellipse">
            <a:avLst/>
          </a:prstGeom>
          <a:solidFill>
            <a:srgbClr val="E67E22"/>
          </a:solidFill>
          <a:ln/>
        </p:spPr>
      </p:sp>
      <p:sp>
        <p:nvSpPr>
          <p:cNvPr id="25" name="Text 23"/>
          <p:cNvSpPr/>
          <p:nvPr/>
        </p:nvSpPr>
        <p:spPr>
          <a:xfrm>
            <a:off x="4754880" y="3063240"/>
            <a:ext cx="457200" cy="45720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6" name="Text 24"/>
          <p:cNvSpPr/>
          <p:nvPr/>
        </p:nvSpPr>
        <p:spPr>
          <a:xfrm>
            <a:off x="5303520" y="3044952"/>
            <a:ext cx="3291840" cy="411480"/>
          </a:xfrm>
          <a:prstGeom prst="rect">
            <a:avLst/>
          </a:prstGeom>
          <a:noFill/>
          <a:ln/>
        </p:spPr>
        <p:txBody>
          <a:bodyPr wrap="square" lIns="0" tIns="0" rIns="0" bIns="0"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Future: Chainlink Integration</a:t>
            </a:r>
            <a:endParaRPr lang="en-US" sz="1300" dirty="0"/>
          </a:p>
        </p:txBody>
      </p:sp>
      <p:sp>
        <p:nvSpPr>
          <p:cNvPr id="27" name="Text 25"/>
          <p:cNvSpPr/>
          <p:nvPr/>
        </p:nvSpPr>
        <p:spPr>
          <a:xfrm>
            <a:off x="5303520" y="3474720"/>
            <a:ext cx="3337560" cy="1051560"/>
          </a:xfrm>
          <a:prstGeom prst="rect">
            <a:avLst/>
          </a:prstGeom>
          <a:noFill/>
          <a:ln/>
        </p:spPr>
        <p:txBody>
          <a:bodyPr wrap="square" rtlCol="0" anchor="ctr"/>
          <a:lstStyle/>
          <a:p>
            <a:pPr marL="0" indent="0">
              <a:buNone/>
            </a:pPr>
            <a:r>
              <a:rPr lang="en-US" sz="1100" dirty="0">
                <a:solidFill>
                  <a:srgbClr val="8899AA"/>
                </a:solidFill>
                <a:latin typeface="Calibri" pitchFamily="34" charset="0"/>
                <a:ea typeface="Calibri" pitchFamily="34" charset="-122"/>
                <a:cs typeface="Calibri" pitchFamily="34" charset="-120"/>
              </a:rPr>
              <a:t>Price Feeds: USD-denominated goals</a:t>
            </a:r>
            <a:endParaRPr lang="en-US" sz="1100" dirty="0"/>
          </a:p>
          <a:p>
            <a:pPr marL="0" indent="0">
              <a:buNone/>
            </a:pPr>
            <a:r>
              <a:rPr lang="en-US" sz="1100" dirty="0">
                <a:solidFill>
                  <a:srgbClr val="8899AA"/>
                </a:solidFill>
                <a:latin typeface="Calibri" pitchFamily="34" charset="0"/>
                <a:ea typeface="Calibri" pitchFamily="34" charset="-122"/>
                <a:cs typeface="Calibri" pitchFamily="34" charset="-120"/>
              </a:rPr>
              <a:t>Automation: auto-settle at deadline</a:t>
            </a:r>
            <a:endParaRPr lang="en-US" sz="1100" dirty="0"/>
          </a:p>
          <a:p>
            <a:pPr marL="0" indent="0">
              <a:buNone/>
            </a:pPr>
            <a:r>
              <a:rPr lang="en-US" sz="1100" dirty="0">
                <a:solidFill>
                  <a:srgbClr val="8899AA"/>
                </a:solidFill>
                <a:latin typeface="Calibri" pitchFamily="34" charset="0"/>
                <a:ea typeface="Calibri" pitchFamily="34" charset="-122"/>
                <a:cs typeface="Calibri" pitchFamily="34" charset="-120"/>
              </a:rPr>
              <a:t>VRF: random bonus reward selection</a:t>
            </a:r>
            <a:endParaRPr lang="en-US" sz="1100" dirty="0"/>
          </a:p>
          <a:p>
            <a:pPr marL="0" indent="0">
              <a:buNone/>
            </a:pPr>
            <a:r>
              <a:rPr lang="en-US" sz="1100" dirty="0">
                <a:solidFill>
                  <a:srgbClr val="8899AA"/>
                </a:solidFill>
                <a:latin typeface="Calibri" pitchFamily="34" charset="0"/>
                <a:ea typeface="Calibri" pitchFamily="34" charset="-122"/>
                <a:cs typeface="Calibri" pitchFamily="34" charset="-120"/>
              </a:rPr>
              <a:t>Removes reliance on manual triggers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65A82"/>
          </a:solidFill>
          <a:ln/>
        </p:spPr>
      </p:sp>
      <p:sp>
        <p:nvSpPr>
          <p:cNvPr id="3" name="Text 1"/>
          <p:cNvSpPr/>
          <p:nvPr/>
        </p:nvSpPr>
        <p:spPr>
          <a:xfrm>
            <a:off x="365760" y="0"/>
            <a:ext cx="8229600" cy="7772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Testing Evidence — Remix IDE</a:t>
            </a:r>
            <a:endParaRPr lang="en-US" sz="2800" dirty="0"/>
          </a:p>
        </p:txBody>
      </p:sp>
      <p:sp>
        <p:nvSpPr>
          <p:cNvPr id="4" name="Shape 2"/>
          <p:cNvSpPr/>
          <p:nvPr/>
        </p:nvSpPr>
        <p:spPr>
          <a:xfrm>
            <a:off x="228600" y="914400"/>
            <a:ext cx="228600" cy="347472"/>
          </a:xfrm>
          <a:prstGeom prst="rect">
            <a:avLst/>
          </a:prstGeom>
          <a:solidFill>
            <a:srgbClr val="1C7293"/>
          </a:solidFill>
          <a:ln/>
        </p:spPr>
      </p:sp>
      <p:sp>
        <p:nvSpPr>
          <p:cNvPr id="5" name="Text 3"/>
          <p:cNvSpPr/>
          <p:nvPr/>
        </p:nvSpPr>
        <p:spPr>
          <a:xfrm>
            <a:off x="228600" y="914400"/>
            <a:ext cx="2286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6" name="Shape 4"/>
          <p:cNvSpPr/>
          <p:nvPr/>
        </p:nvSpPr>
        <p:spPr>
          <a:xfrm>
            <a:off x="457200" y="914400"/>
            <a:ext cx="2743200" cy="347472"/>
          </a:xfrm>
          <a:prstGeom prst="rect">
            <a:avLst/>
          </a:prstGeom>
          <a:solidFill>
            <a:srgbClr val="1C7293"/>
          </a:solidFill>
          <a:ln/>
        </p:spPr>
      </p:sp>
      <p:sp>
        <p:nvSpPr>
          <p:cNvPr id="7" name="Text 5"/>
          <p:cNvSpPr/>
          <p:nvPr/>
        </p:nvSpPr>
        <p:spPr>
          <a:xfrm>
            <a:off x="457200" y="914400"/>
            <a:ext cx="27432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Test Case</a:t>
            </a:r>
            <a:endParaRPr lang="en-US" sz="1100" dirty="0"/>
          </a:p>
        </p:txBody>
      </p:sp>
      <p:sp>
        <p:nvSpPr>
          <p:cNvPr id="8" name="Shape 6"/>
          <p:cNvSpPr/>
          <p:nvPr/>
        </p:nvSpPr>
        <p:spPr>
          <a:xfrm>
            <a:off x="3200400" y="914400"/>
            <a:ext cx="1417320" cy="347472"/>
          </a:xfrm>
          <a:prstGeom prst="rect">
            <a:avLst/>
          </a:prstGeom>
          <a:solidFill>
            <a:srgbClr val="1C7293"/>
          </a:solidFill>
          <a:ln/>
        </p:spPr>
      </p:sp>
      <p:sp>
        <p:nvSpPr>
          <p:cNvPr id="9" name="Text 7"/>
          <p:cNvSpPr/>
          <p:nvPr/>
        </p:nvSpPr>
        <p:spPr>
          <a:xfrm>
            <a:off x="3200400" y="914400"/>
            <a:ext cx="14173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Input</a:t>
            </a:r>
            <a:endParaRPr lang="en-US" sz="1100" dirty="0"/>
          </a:p>
        </p:txBody>
      </p:sp>
      <p:sp>
        <p:nvSpPr>
          <p:cNvPr id="10" name="Shape 8"/>
          <p:cNvSpPr/>
          <p:nvPr/>
        </p:nvSpPr>
        <p:spPr>
          <a:xfrm>
            <a:off x="4617720" y="914400"/>
            <a:ext cx="1965960" cy="347472"/>
          </a:xfrm>
          <a:prstGeom prst="rect">
            <a:avLst/>
          </a:prstGeom>
          <a:solidFill>
            <a:srgbClr val="1C7293"/>
          </a:solidFill>
          <a:ln/>
        </p:spPr>
      </p:sp>
      <p:sp>
        <p:nvSpPr>
          <p:cNvPr id="11" name="Text 9"/>
          <p:cNvSpPr/>
          <p:nvPr/>
        </p:nvSpPr>
        <p:spPr>
          <a:xfrm>
            <a:off x="4617720" y="914400"/>
            <a:ext cx="19659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Expected</a:t>
            </a:r>
            <a:endParaRPr lang="en-US" sz="1100" dirty="0"/>
          </a:p>
        </p:txBody>
      </p:sp>
      <p:sp>
        <p:nvSpPr>
          <p:cNvPr id="12" name="Shape 10"/>
          <p:cNvSpPr/>
          <p:nvPr/>
        </p:nvSpPr>
        <p:spPr>
          <a:xfrm>
            <a:off x="6583680" y="914400"/>
            <a:ext cx="1828800" cy="347472"/>
          </a:xfrm>
          <a:prstGeom prst="rect">
            <a:avLst/>
          </a:prstGeom>
          <a:solidFill>
            <a:srgbClr val="1C7293"/>
          </a:solidFill>
          <a:ln/>
        </p:spPr>
      </p:sp>
      <p:sp>
        <p:nvSpPr>
          <p:cNvPr id="13" name="Text 11"/>
          <p:cNvSpPr/>
          <p:nvPr/>
        </p:nvSpPr>
        <p:spPr>
          <a:xfrm>
            <a:off x="6583680" y="914400"/>
            <a:ext cx="18288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Actual</a:t>
            </a:r>
            <a:endParaRPr lang="en-US" sz="1100" dirty="0"/>
          </a:p>
        </p:txBody>
      </p:sp>
      <p:sp>
        <p:nvSpPr>
          <p:cNvPr id="14" name="Shape 12"/>
          <p:cNvSpPr/>
          <p:nvPr/>
        </p:nvSpPr>
        <p:spPr>
          <a:xfrm>
            <a:off x="8412480" y="914400"/>
            <a:ext cx="731520" cy="347472"/>
          </a:xfrm>
          <a:prstGeom prst="rect">
            <a:avLst/>
          </a:prstGeom>
          <a:solidFill>
            <a:srgbClr val="1C7293"/>
          </a:solidFill>
          <a:ln/>
        </p:spPr>
      </p:sp>
      <p:sp>
        <p:nvSpPr>
          <p:cNvPr id="15" name="Text 13"/>
          <p:cNvSpPr/>
          <p:nvPr/>
        </p:nvSpPr>
        <p:spPr>
          <a:xfrm>
            <a:off x="8412480" y="914400"/>
            <a:ext cx="7315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Shape 14"/>
          <p:cNvSpPr/>
          <p:nvPr/>
        </p:nvSpPr>
        <p:spPr>
          <a:xfrm>
            <a:off x="228600" y="1261872"/>
            <a:ext cx="228600" cy="420624"/>
          </a:xfrm>
          <a:prstGeom prst="rect">
            <a:avLst/>
          </a:prstGeom>
          <a:solidFill>
            <a:srgbClr val="0D2B3D"/>
          </a:solidFill>
          <a:ln w="6350">
            <a:solidFill>
              <a:srgbClr val="1C7293"/>
            </a:solidFill>
            <a:prstDash val="solid"/>
          </a:ln>
        </p:spPr>
      </p:sp>
      <p:sp>
        <p:nvSpPr>
          <p:cNvPr id="17" name="Text 15"/>
          <p:cNvSpPr/>
          <p:nvPr/>
        </p:nvSpPr>
        <p:spPr>
          <a:xfrm>
            <a:off x="256032" y="1261872"/>
            <a:ext cx="173736" cy="420624"/>
          </a:xfrm>
          <a:prstGeom prst="rect">
            <a:avLst/>
          </a:prstGeom>
          <a:noFill/>
          <a:ln/>
        </p:spPr>
        <p:txBody>
          <a:bodyPr wrap="square" rtlCol="0" anchor="ctr"/>
          <a:lstStyle/>
          <a:p>
            <a:pPr marL="0" indent="0" algn="ctr">
              <a:buNone/>
            </a:pPr>
            <a:r>
              <a:rPr lang="en-US" sz="1000" dirty="0">
                <a:solidFill>
                  <a:srgbClr val="D0E4EE"/>
                </a:solidFill>
                <a:latin typeface="Calibri" pitchFamily="34" charset="0"/>
                <a:ea typeface="Calibri" pitchFamily="34" charset="-122"/>
                <a:cs typeface="Calibri" pitchFamily="34" charset="-120"/>
              </a:rPr>
              <a:t>1</a:t>
            </a:r>
            <a:endParaRPr lang="en-US" sz="1000" dirty="0"/>
          </a:p>
        </p:txBody>
      </p:sp>
      <p:sp>
        <p:nvSpPr>
          <p:cNvPr id="18" name="Shape 16"/>
          <p:cNvSpPr/>
          <p:nvPr/>
        </p:nvSpPr>
        <p:spPr>
          <a:xfrm>
            <a:off x="457200" y="1261872"/>
            <a:ext cx="2743200" cy="420624"/>
          </a:xfrm>
          <a:prstGeom prst="rect">
            <a:avLst/>
          </a:prstGeom>
          <a:solidFill>
            <a:srgbClr val="0D2B3D"/>
          </a:solidFill>
          <a:ln w="6350">
            <a:solidFill>
              <a:srgbClr val="1C7293"/>
            </a:solidFill>
            <a:prstDash val="solid"/>
          </a:ln>
        </p:spPr>
      </p:sp>
      <p:sp>
        <p:nvSpPr>
          <p:cNvPr id="19" name="Text 17"/>
          <p:cNvSpPr/>
          <p:nvPr/>
        </p:nvSpPr>
        <p:spPr>
          <a:xfrm>
            <a:off x="484632" y="1261872"/>
            <a:ext cx="26883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Learner tier contribution</a:t>
            </a:r>
            <a:endParaRPr lang="en-US" sz="1000" dirty="0"/>
          </a:p>
        </p:txBody>
      </p:sp>
      <p:sp>
        <p:nvSpPr>
          <p:cNvPr id="20" name="Shape 18"/>
          <p:cNvSpPr/>
          <p:nvPr/>
        </p:nvSpPr>
        <p:spPr>
          <a:xfrm>
            <a:off x="3200400" y="1261872"/>
            <a:ext cx="1417320" cy="420624"/>
          </a:xfrm>
          <a:prstGeom prst="rect">
            <a:avLst/>
          </a:prstGeom>
          <a:solidFill>
            <a:srgbClr val="0D2B3D"/>
          </a:solidFill>
          <a:ln w="6350">
            <a:solidFill>
              <a:srgbClr val="1C7293"/>
            </a:solidFill>
            <a:prstDash val="solid"/>
          </a:ln>
        </p:spPr>
      </p:sp>
      <p:sp>
        <p:nvSpPr>
          <p:cNvPr id="21" name="Text 19"/>
          <p:cNvSpPr/>
          <p:nvPr/>
        </p:nvSpPr>
        <p:spPr>
          <a:xfrm>
            <a:off x="3227832" y="1261872"/>
            <a:ext cx="136245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0.01 ETH</a:t>
            </a:r>
            <a:endParaRPr lang="en-US" sz="1000" dirty="0"/>
          </a:p>
        </p:txBody>
      </p:sp>
      <p:sp>
        <p:nvSpPr>
          <p:cNvPr id="22" name="Shape 20"/>
          <p:cNvSpPr/>
          <p:nvPr/>
        </p:nvSpPr>
        <p:spPr>
          <a:xfrm>
            <a:off x="4617720" y="1261872"/>
            <a:ext cx="1965960" cy="420624"/>
          </a:xfrm>
          <a:prstGeom prst="rect">
            <a:avLst/>
          </a:prstGeom>
          <a:solidFill>
            <a:srgbClr val="0D2B3D"/>
          </a:solidFill>
          <a:ln w="6350">
            <a:solidFill>
              <a:srgbClr val="1C7293"/>
            </a:solidFill>
            <a:prstDash val="solid"/>
          </a:ln>
        </p:spPr>
      </p:sp>
      <p:sp>
        <p:nvSpPr>
          <p:cNvPr id="23" name="Text 21"/>
          <p:cNvSpPr/>
          <p:nvPr/>
        </p:nvSpPr>
        <p:spPr>
          <a:xfrm>
            <a:off x="4645152" y="1261872"/>
            <a:ext cx="191109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tier=1, event fires</a:t>
            </a:r>
            <a:endParaRPr lang="en-US" sz="1000" dirty="0"/>
          </a:p>
        </p:txBody>
      </p:sp>
      <p:sp>
        <p:nvSpPr>
          <p:cNvPr id="24" name="Shape 22"/>
          <p:cNvSpPr/>
          <p:nvPr/>
        </p:nvSpPr>
        <p:spPr>
          <a:xfrm>
            <a:off x="6583680" y="1261872"/>
            <a:ext cx="1828800" cy="420624"/>
          </a:xfrm>
          <a:prstGeom prst="rect">
            <a:avLst/>
          </a:prstGeom>
          <a:solidFill>
            <a:srgbClr val="0D2B3D"/>
          </a:solidFill>
          <a:ln w="6350">
            <a:solidFill>
              <a:srgbClr val="1C7293"/>
            </a:solidFill>
            <a:prstDash val="solid"/>
          </a:ln>
        </p:spPr>
      </p:sp>
      <p:sp>
        <p:nvSpPr>
          <p:cNvPr id="25" name="Text 23"/>
          <p:cNvSpPr/>
          <p:nvPr/>
        </p:nvSpPr>
        <p:spPr>
          <a:xfrm>
            <a:off x="6611112" y="1261872"/>
            <a:ext cx="17739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tier=1 ✅</a:t>
            </a:r>
            <a:endParaRPr lang="en-US" sz="1000" dirty="0"/>
          </a:p>
        </p:txBody>
      </p:sp>
      <p:sp>
        <p:nvSpPr>
          <p:cNvPr id="26" name="Shape 24"/>
          <p:cNvSpPr/>
          <p:nvPr/>
        </p:nvSpPr>
        <p:spPr>
          <a:xfrm>
            <a:off x="8412480" y="1261872"/>
            <a:ext cx="731520" cy="420624"/>
          </a:xfrm>
          <a:prstGeom prst="rect">
            <a:avLst/>
          </a:prstGeom>
          <a:solidFill>
            <a:srgbClr val="0D2B3D"/>
          </a:solidFill>
          <a:ln w="6350">
            <a:solidFill>
              <a:srgbClr val="1C7293"/>
            </a:solidFill>
            <a:prstDash val="solid"/>
          </a:ln>
        </p:spPr>
      </p:sp>
      <p:sp>
        <p:nvSpPr>
          <p:cNvPr id="27" name="Text 25"/>
          <p:cNvSpPr/>
          <p:nvPr/>
        </p:nvSpPr>
        <p:spPr>
          <a:xfrm>
            <a:off x="8439912" y="1261872"/>
            <a:ext cx="676656" cy="420624"/>
          </a:xfrm>
          <a:prstGeom prst="rect">
            <a:avLst/>
          </a:prstGeom>
          <a:noFill/>
          <a:ln/>
        </p:spPr>
        <p:txBody>
          <a:bodyPr wrap="square" rtlCol="0" anchor="ctr"/>
          <a:lstStyle/>
          <a:p>
            <a:pPr marL="0" indent="0" algn="ctr">
              <a:buNone/>
            </a:pPr>
            <a:r>
              <a:rPr lang="en-US" sz="1400" dirty="0">
                <a:solidFill>
                  <a:srgbClr val="21A0C1"/>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228600" y="1700784"/>
            <a:ext cx="228600" cy="420624"/>
          </a:xfrm>
          <a:prstGeom prst="rect">
            <a:avLst/>
          </a:prstGeom>
          <a:solidFill>
            <a:srgbClr val="0A1F2D"/>
          </a:solidFill>
          <a:ln w="6350">
            <a:solidFill>
              <a:srgbClr val="1C7293"/>
            </a:solidFill>
            <a:prstDash val="solid"/>
          </a:ln>
        </p:spPr>
      </p:sp>
      <p:sp>
        <p:nvSpPr>
          <p:cNvPr id="29" name="Text 27"/>
          <p:cNvSpPr/>
          <p:nvPr/>
        </p:nvSpPr>
        <p:spPr>
          <a:xfrm>
            <a:off x="256032" y="1700784"/>
            <a:ext cx="173736" cy="420624"/>
          </a:xfrm>
          <a:prstGeom prst="rect">
            <a:avLst/>
          </a:prstGeom>
          <a:noFill/>
          <a:ln/>
        </p:spPr>
        <p:txBody>
          <a:bodyPr wrap="square" rtlCol="0" anchor="ctr"/>
          <a:lstStyle/>
          <a:p>
            <a:pPr marL="0" indent="0" algn="ctr">
              <a:buNone/>
            </a:pPr>
            <a:r>
              <a:rPr lang="en-US" sz="1000" dirty="0">
                <a:solidFill>
                  <a:srgbClr val="D0E4EE"/>
                </a:solidFill>
                <a:latin typeface="Calibri" pitchFamily="34" charset="0"/>
                <a:ea typeface="Calibri" pitchFamily="34" charset="-122"/>
                <a:cs typeface="Calibri" pitchFamily="34" charset="-120"/>
              </a:rPr>
              <a:t>2</a:t>
            </a:r>
            <a:endParaRPr lang="en-US" sz="1000" dirty="0"/>
          </a:p>
        </p:txBody>
      </p:sp>
      <p:sp>
        <p:nvSpPr>
          <p:cNvPr id="30" name="Shape 28"/>
          <p:cNvSpPr/>
          <p:nvPr/>
        </p:nvSpPr>
        <p:spPr>
          <a:xfrm>
            <a:off x="457200" y="1700784"/>
            <a:ext cx="2743200" cy="420624"/>
          </a:xfrm>
          <a:prstGeom prst="rect">
            <a:avLst/>
          </a:prstGeom>
          <a:solidFill>
            <a:srgbClr val="0A1F2D"/>
          </a:solidFill>
          <a:ln w="6350">
            <a:solidFill>
              <a:srgbClr val="1C7293"/>
            </a:solidFill>
            <a:prstDash val="solid"/>
          </a:ln>
        </p:spPr>
      </p:sp>
      <p:sp>
        <p:nvSpPr>
          <p:cNvPr id="31" name="Text 29"/>
          <p:cNvSpPr/>
          <p:nvPr/>
        </p:nvSpPr>
        <p:spPr>
          <a:xfrm>
            <a:off x="484632" y="1700784"/>
            <a:ext cx="26883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Founder + GoalReached</a:t>
            </a:r>
            <a:endParaRPr lang="en-US" sz="1000" dirty="0"/>
          </a:p>
        </p:txBody>
      </p:sp>
      <p:sp>
        <p:nvSpPr>
          <p:cNvPr id="32" name="Shape 30"/>
          <p:cNvSpPr/>
          <p:nvPr/>
        </p:nvSpPr>
        <p:spPr>
          <a:xfrm>
            <a:off x="3200400" y="1700784"/>
            <a:ext cx="1417320" cy="420624"/>
          </a:xfrm>
          <a:prstGeom prst="rect">
            <a:avLst/>
          </a:prstGeom>
          <a:solidFill>
            <a:srgbClr val="0A1F2D"/>
          </a:solidFill>
          <a:ln w="6350">
            <a:solidFill>
              <a:srgbClr val="1C7293"/>
            </a:solidFill>
            <a:prstDash val="solid"/>
          </a:ln>
        </p:spPr>
      </p:sp>
      <p:sp>
        <p:nvSpPr>
          <p:cNvPr id="33" name="Text 31"/>
          <p:cNvSpPr/>
          <p:nvPr/>
        </p:nvSpPr>
        <p:spPr>
          <a:xfrm>
            <a:off x="3227832" y="1700784"/>
            <a:ext cx="136245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0.10 ETH</a:t>
            </a:r>
            <a:endParaRPr lang="en-US" sz="1000" dirty="0"/>
          </a:p>
        </p:txBody>
      </p:sp>
      <p:sp>
        <p:nvSpPr>
          <p:cNvPr id="34" name="Shape 32"/>
          <p:cNvSpPr/>
          <p:nvPr/>
        </p:nvSpPr>
        <p:spPr>
          <a:xfrm>
            <a:off x="4617720" y="1700784"/>
            <a:ext cx="1965960" cy="420624"/>
          </a:xfrm>
          <a:prstGeom prst="rect">
            <a:avLst/>
          </a:prstGeom>
          <a:solidFill>
            <a:srgbClr val="0A1F2D"/>
          </a:solidFill>
          <a:ln w="6350">
            <a:solidFill>
              <a:srgbClr val="1C7293"/>
            </a:solidFill>
            <a:prstDash val="solid"/>
          </a:ln>
        </p:spPr>
      </p:sp>
      <p:sp>
        <p:nvSpPr>
          <p:cNvPr id="35" name="Text 33"/>
          <p:cNvSpPr/>
          <p:nvPr/>
        </p:nvSpPr>
        <p:spPr>
          <a:xfrm>
            <a:off x="4645152" y="1700784"/>
            <a:ext cx="191109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tier=3, GoalReached</a:t>
            </a:r>
            <a:endParaRPr lang="en-US" sz="1000" dirty="0"/>
          </a:p>
        </p:txBody>
      </p:sp>
      <p:sp>
        <p:nvSpPr>
          <p:cNvPr id="36" name="Shape 34"/>
          <p:cNvSpPr/>
          <p:nvPr/>
        </p:nvSpPr>
        <p:spPr>
          <a:xfrm>
            <a:off x="6583680" y="1700784"/>
            <a:ext cx="1828800" cy="420624"/>
          </a:xfrm>
          <a:prstGeom prst="rect">
            <a:avLst/>
          </a:prstGeom>
          <a:solidFill>
            <a:srgbClr val="0A1F2D"/>
          </a:solidFill>
          <a:ln w="6350">
            <a:solidFill>
              <a:srgbClr val="1C7293"/>
            </a:solidFill>
            <a:prstDash val="solid"/>
          </a:ln>
        </p:spPr>
      </p:sp>
      <p:sp>
        <p:nvSpPr>
          <p:cNvPr id="37" name="Text 35"/>
          <p:cNvSpPr/>
          <p:nvPr/>
        </p:nvSpPr>
        <p:spPr>
          <a:xfrm>
            <a:off x="6611112" y="1700784"/>
            <a:ext cx="17739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GoalReached ✅</a:t>
            </a:r>
            <a:endParaRPr lang="en-US" sz="1000" dirty="0"/>
          </a:p>
        </p:txBody>
      </p:sp>
      <p:sp>
        <p:nvSpPr>
          <p:cNvPr id="38" name="Shape 36"/>
          <p:cNvSpPr/>
          <p:nvPr/>
        </p:nvSpPr>
        <p:spPr>
          <a:xfrm>
            <a:off x="8412480" y="1700784"/>
            <a:ext cx="731520" cy="420624"/>
          </a:xfrm>
          <a:prstGeom prst="rect">
            <a:avLst/>
          </a:prstGeom>
          <a:solidFill>
            <a:srgbClr val="0A1F2D"/>
          </a:solidFill>
          <a:ln w="6350">
            <a:solidFill>
              <a:srgbClr val="1C7293"/>
            </a:solidFill>
            <a:prstDash val="solid"/>
          </a:ln>
        </p:spPr>
      </p:sp>
      <p:sp>
        <p:nvSpPr>
          <p:cNvPr id="39" name="Text 37"/>
          <p:cNvSpPr/>
          <p:nvPr/>
        </p:nvSpPr>
        <p:spPr>
          <a:xfrm>
            <a:off x="8439912" y="1700784"/>
            <a:ext cx="676656" cy="420624"/>
          </a:xfrm>
          <a:prstGeom prst="rect">
            <a:avLst/>
          </a:prstGeom>
          <a:noFill/>
          <a:ln/>
        </p:spPr>
        <p:txBody>
          <a:bodyPr wrap="square" rtlCol="0" anchor="ctr"/>
          <a:lstStyle/>
          <a:p>
            <a:pPr marL="0" indent="0" algn="ctr">
              <a:buNone/>
            </a:pPr>
            <a:r>
              <a:rPr lang="en-US" sz="1400" dirty="0">
                <a:solidFill>
                  <a:srgbClr val="21A0C1"/>
                </a:solidFill>
                <a:latin typeface="Calibri" pitchFamily="34" charset="0"/>
                <a:ea typeface="Calibri" pitchFamily="34" charset="-122"/>
                <a:cs typeface="Calibri" pitchFamily="34" charset="-120"/>
              </a:rPr>
              <a:t>✅</a:t>
            </a:r>
            <a:endParaRPr lang="en-US" sz="1400" dirty="0"/>
          </a:p>
        </p:txBody>
      </p:sp>
      <p:sp>
        <p:nvSpPr>
          <p:cNvPr id="40" name="Shape 38"/>
          <p:cNvSpPr/>
          <p:nvPr/>
        </p:nvSpPr>
        <p:spPr>
          <a:xfrm>
            <a:off x="228600" y="2139696"/>
            <a:ext cx="228600" cy="420624"/>
          </a:xfrm>
          <a:prstGeom prst="rect">
            <a:avLst/>
          </a:prstGeom>
          <a:solidFill>
            <a:srgbClr val="0D2B3D"/>
          </a:solidFill>
          <a:ln w="6350">
            <a:solidFill>
              <a:srgbClr val="1C7293"/>
            </a:solidFill>
            <a:prstDash val="solid"/>
          </a:ln>
        </p:spPr>
      </p:sp>
      <p:sp>
        <p:nvSpPr>
          <p:cNvPr id="41" name="Text 39"/>
          <p:cNvSpPr/>
          <p:nvPr/>
        </p:nvSpPr>
        <p:spPr>
          <a:xfrm>
            <a:off x="256032" y="2139696"/>
            <a:ext cx="173736" cy="420624"/>
          </a:xfrm>
          <a:prstGeom prst="rect">
            <a:avLst/>
          </a:prstGeom>
          <a:noFill/>
          <a:ln/>
        </p:spPr>
        <p:txBody>
          <a:bodyPr wrap="square" rtlCol="0" anchor="ctr"/>
          <a:lstStyle/>
          <a:p>
            <a:pPr marL="0" indent="0" algn="ctr">
              <a:buNone/>
            </a:pPr>
            <a:r>
              <a:rPr lang="en-US" sz="1000" dirty="0">
                <a:solidFill>
                  <a:srgbClr val="D0E4EE"/>
                </a:solidFill>
                <a:latin typeface="Calibri" pitchFamily="34" charset="0"/>
                <a:ea typeface="Calibri" pitchFamily="34" charset="-122"/>
                <a:cs typeface="Calibri" pitchFamily="34" charset="-120"/>
              </a:rPr>
              <a:t>3</a:t>
            </a:r>
            <a:endParaRPr lang="en-US" sz="1000" dirty="0"/>
          </a:p>
        </p:txBody>
      </p:sp>
      <p:sp>
        <p:nvSpPr>
          <p:cNvPr id="42" name="Shape 40"/>
          <p:cNvSpPr/>
          <p:nvPr/>
        </p:nvSpPr>
        <p:spPr>
          <a:xfrm>
            <a:off x="457200" y="2139696"/>
            <a:ext cx="2743200" cy="420624"/>
          </a:xfrm>
          <a:prstGeom prst="rect">
            <a:avLst/>
          </a:prstGeom>
          <a:solidFill>
            <a:srgbClr val="0D2B3D"/>
          </a:solidFill>
          <a:ln w="6350">
            <a:solidFill>
              <a:srgbClr val="1C7293"/>
            </a:solidFill>
            <a:prstDash val="solid"/>
          </a:ln>
        </p:spPr>
      </p:sp>
      <p:sp>
        <p:nvSpPr>
          <p:cNvPr id="43" name="Text 41"/>
          <p:cNvSpPr/>
          <p:nvPr/>
        </p:nvSpPr>
        <p:spPr>
          <a:xfrm>
            <a:off x="484632" y="2139696"/>
            <a:ext cx="26883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Zero-value contribution</a:t>
            </a:r>
            <a:endParaRPr lang="en-US" sz="1000" dirty="0"/>
          </a:p>
        </p:txBody>
      </p:sp>
      <p:sp>
        <p:nvSpPr>
          <p:cNvPr id="44" name="Shape 42"/>
          <p:cNvSpPr/>
          <p:nvPr/>
        </p:nvSpPr>
        <p:spPr>
          <a:xfrm>
            <a:off x="3200400" y="2139696"/>
            <a:ext cx="1417320" cy="420624"/>
          </a:xfrm>
          <a:prstGeom prst="rect">
            <a:avLst/>
          </a:prstGeom>
          <a:solidFill>
            <a:srgbClr val="0D2B3D"/>
          </a:solidFill>
          <a:ln w="6350">
            <a:solidFill>
              <a:srgbClr val="1C7293"/>
            </a:solidFill>
            <a:prstDash val="solid"/>
          </a:ln>
        </p:spPr>
      </p:sp>
      <p:sp>
        <p:nvSpPr>
          <p:cNvPr id="45" name="Text 43"/>
          <p:cNvSpPr/>
          <p:nvPr/>
        </p:nvSpPr>
        <p:spPr>
          <a:xfrm>
            <a:off x="3227832" y="2139696"/>
            <a:ext cx="136245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0 Wei</a:t>
            </a:r>
            <a:endParaRPr lang="en-US" sz="1000" dirty="0"/>
          </a:p>
        </p:txBody>
      </p:sp>
      <p:sp>
        <p:nvSpPr>
          <p:cNvPr id="46" name="Shape 44"/>
          <p:cNvSpPr/>
          <p:nvPr/>
        </p:nvSpPr>
        <p:spPr>
          <a:xfrm>
            <a:off x="4617720" y="2139696"/>
            <a:ext cx="1965960" cy="420624"/>
          </a:xfrm>
          <a:prstGeom prst="rect">
            <a:avLst/>
          </a:prstGeom>
          <a:solidFill>
            <a:srgbClr val="0D2B3D"/>
          </a:solidFill>
          <a:ln w="6350">
            <a:solidFill>
              <a:srgbClr val="1C7293"/>
            </a:solidFill>
            <a:prstDash val="solid"/>
          </a:ln>
        </p:spPr>
      </p:sp>
      <p:sp>
        <p:nvSpPr>
          <p:cNvPr id="47" name="Text 45"/>
          <p:cNvSpPr/>
          <p:nvPr/>
        </p:nvSpPr>
        <p:spPr>
          <a:xfrm>
            <a:off x="4645152" y="2139696"/>
            <a:ext cx="191109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Revert: must be &gt; 0</a:t>
            </a:r>
            <a:endParaRPr lang="en-US" sz="1000" dirty="0"/>
          </a:p>
        </p:txBody>
      </p:sp>
      <p:sp>
        <p:nvSpPr>
          <p:cNvPr id="48" name="Shape 46"/>
          <p:cNvSpPr/>
          <p:nvPr/>
        </p:nvSpPr>
        <p:spPr>
          <a:xfrm>
            <a:off x="6583680" y="2139696"/>
            <a:ext cx="1828800" cy="420624"/>
          </a:xfrm>
          <a:prstGeom prst="rect">
            <a:avLst/>
          </a:prstGeom>
          <a:solidFill>
            <a:srgbClr val="0D2B3D"/>
          </a:solidFill>
          <a:ln w="6350">
            <a:solidFill>
              <a:srgbClr val="1C7293"/>
            </a:solidFill>
            <a:prstDash val="solid"/>
          </a:ln>
        </p:spPr>
      </p:sp>
      <p:sp>
        <p:nvSpPr>
          <p:cNvPr id="49" name="Text 47"/>
          <p:cNvSpPr/>
          <p:nvPr/>
        </p:nvSpPr>
        <p:spPr>
          <a:xfrm>
            <a:off x="6611112" y="2139696"/>
            <a:ext cx="17739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Reverted ✅</a:t>
            </a:r>
            <a:endParaRPr lang="en-US" sz="1000" dirty="0"/>
          </a:p>
        </p:txBody>
      </p:sp>
      <p:sp>
        <p:nvSpPr>
          <p:cNvPr id="50" name="Shape 48"/>
          <p:cNvSpPr/>
          <p:nvPr/>
        </p:nvSpPr>
        <p:spPr>
          <a:xfrm>
            <a:off x="8412480" y="2139696"/>
            <a:ext cx="731520" cy="420624"/>
          </a:xfrm>
          <a:prstGeom prst="rect">
            <a:avLst/>
          </a:prstGeom>
          <a:solidFill>
            <a:srgbClr val="0D2B3D"/>
          </a:solidFill>
          <a:ln w="6350">
            <a:solidFill>
              <a:srgbClr val="1C7293"/>
            </a:solidFill>
            <a:prstDash val="solid"/>
          </a:ln>
        </p:spPr>
      </p:sp>
      <p:sp>
        <p:nvSpPr>
          <p:cNvPr id="51" name="Text 49"/>
          <p:cNvSpPr/>
          <p:nvPr/>
        </p:nvSpPr>
        <p:spPr>
          <a:xfrm>
            <a:off x="8439912" y="2139696"/>
            <a:ext cx="676656" cy="420624"/>
          </a:xfrm>
          <a:prstGeom prst="rect">
            <a:avLst/>
          </a:prstGeom>
          <a:noFill/>
          <a:ln/>
        </p:spPr>
        <p:txBody>
          <a:bodyPr wrap="square" rtlCol="0" anchor="ctr"/>
          <a:lstStyle/>
          <a:p>
            <a:pPr marL="0" indent="0" algn="ctr">
              <a:buNone/>
            </a:pPr>
            <a:r>
              <a:rPr lang="en-US" sz="1400" dirty="0">
                <a:solidFill>
                  <a:srgbClr val="21A0C1"/>
                </a:solidFill>
                <a:latin typeface="Calibri" pitchFamily="34" charset="0"/>
                <a:ea typeface="Calibri" pitchFamily="34" charset="-122"/>
                <a:cs typeface="Calibri" pitchFamily="34" charset="-120"/>
              </a:rPr>
              <a:t>✅</a:t>
            </a:r>
            <a:endParaRPr lang="en-US" sz="1400" dirty="0"/>
          </a:p>
        </p:txBody>
      </p:sp>
      <p:sp>
        <p:nvSpPr>
          <p:cNvPr id="52" name="Shape 50"/>
          <p:cNvSpPr/>
          <p:nvPr/>
        </p:nvSpPr>
        <p:spPr>
          <a:xfrm>
            <a:off x="228600" y="2578608"/>
            <a:ext cx="228600" cy="420624"/>
          </a:xfrm>
          <a:prstGeom prst="rect">
            <a:avLst/>
          </a:prstGeom>
          <a:solidFill>
            <a:srgbClr val="0A1F2D"/>
          </a:solidFill>
          <a:ln w="6350">
            <a:solidFill>
              <a:srgbClr val="1C7293"/>
            </a:solidFill>
            <a:prstDash val="solid"/>
          </a:ln>
        </p:spPr>
      </p:sp>
      <p:sp>
        <p:nvSpPr>
          <p:cNvPr id="53" name="Text 51"/>
          <p:cNvSpPr/>
          <p:nvPr/>
        </p:nvSpPr>
        <p:spPr>
          <a:xfrm>
            <a:off x="256032" y="2578608"/>
            <a:ext cx="173736" cy="420624"/>
          </a:xfrm>
          <a:prstGeom prst="rect">
            <a:avLst/>
          </a:prstGeom>
          <a:noFill/>
          <a:ln/>
        </p:spPr>
        <p:txBody>
          <a:bodyPr wrap="square" rtlCol="0" anchor="ctr"/>
          <a:lstStyle/>
          <a:p>
            <a:pPr marL="0" indent="0" algn="ctr">
              <a:buNone/>
            </a:pPr>
            <a:r>
              <a:rPr lang="en-US" sz="1000" dirty="0">
                <a:solidFill>
                  <a:srgbClr val="D0E4EE"/>
                </a:solidFill>
                <a:latin typeface="Calibri" pitchFamily="34" charset="0"/>
                <a:ea typeface="Calibri" pitchFamily="34" charset="-122"/>
                <a:cs typeface="Calibri" pitchFamily="34" charset="-120"/>
              </a:rPr>
              <a:t>4</a:t>
            </a:r>
            <a:endParaRPr lang="en-US" sz="1000" dirty="0"/>
          </a:p>
        </p:txBody>
      </p:sp>
      <p:sp>
        <p:nvSpPr>
          <p:cNvPr id="54" name="Shape 52"/>
          <p:cNvSpPr/>
          <p:nvPr/>
        </p:nvSpPr>
        <p:spPr>
          <a:xfrm>
            <a:off x="457200" y="2578608"/>
            <a:ext cx="2743200" cy="420624"/>
          </a:xfrm>
          <a:prstGeom prst="rect">
            <a:avLst/>
          </a:prstGeom>
          <a:solidFill>
            <a:srgbClr val="0A1F2D"/>
          </a:solidFill>
          <a:ln w="6350">
            <a:solidFill>
              <a:srgbClr val="1C7293"/>
            </a:solidFill>
            <a:prstDash val="solid"/>
          </a:ln>
        </p:spPr>
      </p:sp>
      <p:sp>
        <p:nvSpPr>
          <p:cNvPr id="55" name="Text 53"/>
          <p:cNvSpPr/>
          <p:nvPr/>
        </p:nvSpPr>
        <p:spPr>
          <a:xfrm>
            <a:off x="484632" y="2578608"/>
            <a:ext cx="26883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Contribute after deadline</a:t>
            </a:r>
            <a:endParaRPr lang="en-US" sz="1000" dirty="0"/>
          </a:p>
        </p:txBody>
      </p:sp>
      <p:sp>
        <p:nvSpPr>
          <p:cNvPr id="56" name="Shape 54"/>
          <p:cNvSpPr/>
          <p:nvPr/>
        </p:nvSpPr>
        <p:spPr>
          <a:xfrm>
            <a:off x="3200400" y="2578608"/>
            <a:ext cx="1417320" cy="420624"/>
          </a:xfrm>
          <a:prstGeom prst="rect">
            <a:avLst/>
          </a:prstGeom>
          <a:solidFill>
            <a:srgbClr val="0A1F2D"/>
          </a:solidFill>
          <a:ln w="6350">
            <a:solidFill>
              <a:srgbClr val="1C7293"/>
            </a:solidFill>
            <a:prstDash val="solid"/>
          </a:ln>
        </p:spPr>
      </p:sp>
      <p:sp>
        <p:nvSpPr>
          <p:cNvPr id="57" name="Text 55"/>
          <p:cNvSpPr/>
          <p:nvPr/>
        </p:nvSpPr>
        <p:spPr>
          <a:xfrm>
            <a:off x="3227832" y="2578608"/>
            <a:ext cx="136245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0.01 ETH</a:t>
            </a:r>
            <a:endParaRPr lang="en-US" sz="1000" dirty="0"/>
          </a:p>
        </p:txBody>
      </p:sp>
      <p:sp>
        <p:nvSpPr>
          <p:cNvPr id="58" name="Shape 56"/>
          <p:cNvSpPr/>
          <p:nvPr/>
        </p:nvSpPr>
        <p:spPr>
          <a:xfrm>
            <a:off x="4617720" y="2578608"/>
            <a:ext cx="1965960" cy="420624"/>
          </a:xfrm>
          <a:prstGeom prst="rect">
            <a:avLst/>
          </a:prstGeom>
          <a:solidFill>
            <a:srgbClr val="0A1F2D"/>
          </a:solidFill>
          <a:ln w="6350">
            <a:solidFill>
              <a:srgbClr val="1C7293"/>
            </a:solidFill>
            <a:prstDash val="solid"/>
          </a:ln>
        </p:spPr>
      </p:sp>
      <p:sp>
        <p:nvSpPr>
          <p:cNvPr id="59" name="Text 57"/>
          <p:cNvSpPr/>
          <p:nvPr/>
        </p:nvSpPr>
        <p:spPr>
          <a:xfrm>
            <a:off x="4645152" y="2578608"/>
            <a:ext cx="191109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Revert: Deadline passed</a:t>
            </a:r>
            <a:endParaRPr lang="en-US" sz="1000" dirty="0"/>
          </a:p>
        </p:txBody>
      </p:sp>
      <p:sp>
        <p:nvSpPr>
          <p:cNvPr id="60" name="Shape 58"/>
          <p:cNvSpPr/>
          <p:nvPr/>
        </p:nvSpPr>
        <p:spPr>
          <a:xfrm>
            <a:off x="6583680" y="2578608"/>
            <a:ext cx="1828800" cy="420624"/>
          </a:xfrm>
          <a:prstGeom prst="rect">
            <a:avLst/>
          </a:prstGeom>
          <a:solidFill>
            <a:srgbClr val="0A1F2D"/>
          </a:solidFill>
          <a:ln w="6350">
            <a:solidFill>
              <a:srgbClr val="1C7293"/>
            </a:solidFill>
            <a:prstDash val="solid"/>
          </a:ln>
        </p:spPr>
      </p:sp>
      <p:sp>
        <p:nvSpPr>
          <p:cNvPr id="61" name="Text 59"/>
          <p:cNvSpPr/>
          <p:nvPr/>
        </p:nvSpPr>
        <p:spPr>
          <a:xfrm>
            <a:off x="6611112" y="2578608"/>
            <a:ext cx="17739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Reverted ✅</a:t>
            </a:r>
            <a:endParaRPr lang="en-US" sz="1000" dirty="0"/>
          </a:p>
        </p:txBody>
      </p:sp>
      <p:sp>
        <p:nvSpPr>
          <p:cNvPr id="62" name="Shape 60"/>
          <p:cNvSpPr/>
          <p:nvPr/>
        </p:nvSpPr>
        <p:spPr>
          <a:xfrm>
            <a:off x="8412480" y="2578608"/>
            <a:ext cx="731520" cy="420624"/>
          </a:xfrm>
          <a:prstGeom prst="rect">
            <a:avLst/>
          </a:prstGeom>
          <a:solidFill>
            <a:srgbClr val="0A1F2D"/>
          </a:solidFill>
          <a:ln w="6350">
            <a:solidFill>
              <a:srgbClr val="1C7293"/>
            </a:solidFill>
            <a:prstDash val="solid"/>
          </a:ln>
        </p:spPr>
      </p:sp>
      <p:sp>
        <p:nvSpPr>
          <p:cNvPr id="63" name="Text 61"/>
          <p:cNvSpPr/>
          <p:nvPr/>
        </p:nvSpPr>
        <p:spPr>
          <a:xfrm>
            <a:off x="8439912" y="2578608"/>
            <a:ext cx="676656" cy="420624"/>
          </a:xfrm>
          <a:prstGeom prst="rect">
            <a:avLst/>
          </a:prstGeom>
          <a:noFill/>
          <a:ln/>
        </p:spPr>
        <p:txBody>
          <a:bodyPr wrap="square" rtlCol="0" anchor="ctr"/>
          <a:lstStyle/>
          <a:p>
            <a:pPr marL="0" indent="0" algn="ctr">
              <a:buNone/>
            </a:pPr>
            <a:r>
              <a:rPr lang="en-US" sz="1400" dirty="0">
                <a:solidFill>
                  <a:srgbClr val="21A0C1"/>
                </a:solidFill>
                <a:latin typeface="Calibri" pitchFamily="34" charset="0"/>
                <a:ea typeface="Calibri" pitchFamily="34" charset="-122"/>
                <a:cs typeface="Calibri" pitchFamily="34" charset="-120"/>
              </a:rPr>
              <a:t>✅</a:t>
            </a:r>
            <a:endParaRPr lang="en-US" sz="1400" dirty="0"/>
          </a:p>
        </p:txBody>
      </p:sp>
      <p:sp>
        <p:nvSpPr>
          <p:cNvPr id="64" name="Shape 62"/>
          <p:cNvSpPr/>
          <p:nvPr/>
        </p:nvSpPr>
        <p:spPr>
          <a:xfrm>
            <a:off x="228600" y="3017520"/>
            <a:ext cx="228600" cy="420624"/>
          </a:xfrm>
          <a:prstGeom prst="rect">
            <a:avLst/>
          </a:prstGeom>
          <a:solidFill>
            <a:srgbClr val="0D2B3D"/>
          </a:solidFill>
          <a:ln w="6350">
            <a:solidFill>
              <a:srgbClr val="1C7293"/>
            </a:solidFill>
            <a:prstDash val="solid"/>
          </a:ln>
        </p:spPr>
      </p:sp>
      <p:sp>
        <p:nvSpPr>
          <p:cNvPr id="65" name="Text 63"/>
          <p:cNvSpPr/>
          <p:nvPr/>
        </p:nvSpPr>
        <p:spPr>
          <a:xfrm>
            <a:off x="256032" y="3017520"/>
            <a:ext cx="173736" cy="420624"/>
          </a:xfrm>
          <a:prstGeom prst="rect">
            <a:avLst/>
          </a:prstGeom>
          <a:noFill/>
          <a:ln/>
        </p:spPr>
        <p:txBody>
          <a:bodyPr wrap="square" rtlCol="0" anchor="ctr"/>
          <a:lstStyle/>
          <a:p>
            <a:pPr marL="0" indent="0" algn="ctr">
              <a:buNone/>
            </a:pPr>
            <a:r>
              <a:rPr lang="en-US" sz="1000" dirty="0">
                <a:solidFill>
                  <a:srgbClr val="D0E4EE"/>
                </a:solidFill>
                <a:latin typeface="Calibri" pitchFamily="34" charset="0"/>
                <a:ea typeface="Calibri" pitchFamily="34" charset="-122"/>
                <a:cs typeface="Calibri" pitchFamily="34" charset="-120"/>
              </a:rPr>
              <a:t>5</a:t>
            </a:r>
            <a:endParaRPr lang="en-US" sz="1000" dirty="0"/>
          </a:p>
        </p:txBody>
      </p:sp>
      <p:sp>
        <p:nvSpPr>
          <p:cNvPr id="66" name="Shape 64"/>
          <p:cNvSpPr/>
          <p:nvPr/>
        </p:nvSpPr>
        <p:spPr>
          <a:xfrm>
            <a:off x="457200" y="3017520"/>
            <a:ext cx="2743200" cy="420624"/>
          </a:xfrm>
          <a:prstGeom prst="rect">
            <a:avLst/>
          </a:prstGeom>
          <a:solidFill>
            <a:srgbClr val="0D2B3D"/>
          </a:solidFill>
          <a:ln w="6350">
            <a:solidFill>
              <a:srgbClr val="1C7293"/>
            </a:solidFill>
            <a:prstDash val="solid"/>
          </a:ln>
        </p:spPr>
      </p:sp>
      <p:sp>
        <p:nvSpPr>
          <p:cNvPr id="67" name="Text 65"/>
          <p:cNvSpPr/>
          <p:nvPr/>
        </p:nvSpPr>
        <p:spPr>
          <a:xfrm>
            <a:off x="484632" y="3017520"/>
            <a:ext cx="26883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Unauthorized withdraw</a:t>
            </a:r>
            <a:endParaRPr lang="en-US" sz="1000" dirty="0"/>
          </a:p>
        </p:txBody>
      </p:sp>
      <p:sp>
        <p:nvSpPr>
          <p:cNvPr id="68" name="Shape 66"/>
          <p:cNvSpPr/>
          <p:nvPr/>
        </p:nvSpPr>
        <p:spPr>
          <a:xfrm>
            <a:off x="3200400" y="3017520"/>
            <a:ext cx="1417320" cy="420624"/>
          </a:xfrm>
          <a:prstGeom prst="rect">
            <a:avLst/>
          </a:prstGeom>
          <a:solidFill>
            <a:srgbClr val="0D2B3D"/>
          </a:solidFill>
          <a:ln w="6350">
            <a:solidFill>
              <a:srgbClr val="1C7293"/>
            </a:solidFill>
            <a:prstDash val="solid"/>
          </a:ln>
        </p:spPr>
      </p:sp>
      <p:sp>
        <p:nvSpPr>
          <p:cNvPr id="69" name="Text 67"/>
          <p:cNvSpPr/>
          <p:nvPr/>
        </p:nvSpPr>
        <p:spPr>
          <a:xfrm>
            <a:off x="3227832" y="3017520"/>
            <a:ext cx="136245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Account 2</a:t>
            </a:r>
            <a:endParaRPr lang="en-US" sz="1000" dirty="0"/>
          </a:p>
        </p:txBody>
      </p:sp>
      <p:sp>
        <p:nvSpPr>
          <p:cNvPr id="70" name="Shape 68"/>
          <p:cNvSpPr/>
          <p:nvPr/>
        </p:nvSpPr>
        <p:spPr>
          <a:xfrm>
            <a:off x="4617720" y="3017520"/>
            <a:ext cx="1965960" cy="420624"/>
          </a:xfrm>
          <a:prstGeom prst="rect">
            <a:avLst/>
          </a:prstGeom>
          <a:solidFill>
            <a:srgbClr val="0D2B3D"/>
          </a:solidFill>
          <a:ln w="6350">
            <a:solidFill>
              <a:srgbClr val="1C7293"/>
            </a:solidFill>
            <a:prstDash val="solid"/>
          </a:ln>
        </p:spPr>
      </p:sp>
      <p:sp>
        <p:nvSpPr>
          <p:cNvPr id="71" name="Text 69"/>
          <p:cNvSpPr/>
          <p:nvPr/>
        </p:nvSpPr>
        <p:spPr>
          <a:xfrm>
            <a:off x="4645152" y="3017520"/>
            <a:ext cx="191109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Revert: Not the owner</a:t>
            </a:r>
            <a:endParaRPr lang="en-US" sz="1000" dirty="0"/>
          </a:p>
        </p:txBody>
      </p:sp>
      <p:sp>
        <p:nvSpPr>
          <p:cNvPr id="72" name="Shape 70"/>
          <p:cNvSpPr/>
          <p:nvPr/>
        </p:nvSpPr>
        <p:spPr>
          <a:xfrm>
            <a:off x="6583680" y="3017520"/>
            <a:ext cx="1828800" cy="420624"/>
          </a:xfrm>
          <a:prstGeom prst="rect">
            <a:avLst/>
          </a:prstGeom>
          <a:solidFill>
            <a:srgbClr val="0D2B3D"/>
          </a:solidFill>
          <a:ln w="6350">
            <a:solidFill>
              <a:srgbClr val="1C7293"/>
            </a:solidFill>
            <a:prstDash val="solid"/>
          </a:ln>
        </p:spPr>
      </p:sp>
      <p:sp>
        <p:nvSpPr>
          <p:cNvPr id="73" name="Text 71"/>
          <p:cNvSpPr/>
          <p:nvPr/>
        </p:nvSpPr>
        <p:spPr>
          <a:xfrm>
            <a:off x="6611112" y="3017520"/>
            <a:ext cx="17739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Reverted ✅</a:t>
            </a:r>
            <a:endParaRPr lang="en-US" sz="1000" dirty="0"/>
          </a:p>
        </p:txBody>
      </p:sp>
      <p:sp>
        <p:nvSpPr>
          <p:cNvPr id="74" name="Shape 72"/>
          <p:cNvSpPr/>
          <p:nvPr/>
        </p:nvSpPr>
        <p:spPr>
          <a:xfrm>
            <a:off x="8412480" y="3017520"/>
            <a:ext cx="731520" cy="420624"/>
          </a:xfrm>
          <a:prstGeom prst="rect">
            <a:avLst/>
          </a:prstGeom>
          <a:solidFill>
            <a:srgbClr val="0D2B3D"/>
          </a:solidFill>
          <a:ln w="6350">
            <a:solidFill>
              <a:srgbClr val="1C7293"/>
            </a:solidFill>
            <a:prstDash val="solid"/>
          </a:ln>
        </p:spPr>
      </p:sp>
      <p:sp>
        <p:nvSpPr>
          <p:cNvPr id="75" name="Text 73"/>
          <p:cNvSpPr/>
          <p:nvPr/>
        </p:nvSpPr>
        <p:spPr>
          <a:xfrm>
            <a:off x="8439912" y="3017520"/>
            <a:ext cx="676656" cy="420624"/>
          </a:xfrm>
          <a:prstGeom prst="rect">
            <a:avLst/>
          </a:prstGeom>
          <a:noFill/>
          <a:ln/>
        </p:spPr>
        <p:txBody>
          <a:bodyPr wrap="square" rtlCol="0" anchor="ctr"/>
          <a:lstStyle/>
          <a:p>
            <a:pPr marL="0" indent="0" algn="ctr">
              <a:buNone/>
            </a:pPr>
            <a:r>
              <a:rPr lang="en-US" sz="1400" dirty="0">
                <a:solidFill>
                  <a:srgbClr val="21A0C1"/>
                </a:solidFill>
                <a:latin typeface="Calibri" pitchFamily="34" charset="0"/>
                <a:ea typeface="Calibri" pitchFamily="34" charset="-122"/>
                <a:cs typeface="Calibri" pitchFamily="34" charset="-120"/>
              </a:rPr>
              <a:t>✅</a:t>
            </a:r>
            <a:endParaRPr lang="en-US" sz="1400" dirty="0"/>
          </a:p>
        </p:txBody>
      </p:sp>
      <p:sp>
        <p:nvSpPr>
          <p:cNvPr id="76" name="Shape 74"/>
          <p:cNvSpPr/>
          <p:nvPr/>
        </p:nvSpPr>
        <p:spPr>
          <a:xfrm>
            <a:off x="228600" y="3456432"/>
            <a:ext cx="228600" cy="420624"/>
          </a:xfrm>
          <a:prstGeom prst="rect">
            <a:avLst/>
          </a:prstGeom>
          <a:solidFill>
            <a:srgbClr val="0A1F2D"/>
          </a:solidFill>
          <a:ln w="6350">
            <a:solidFill>
              <a:srgbClr val="1C7293"/>
            </a:solidFill>
            <a:prstDash val="solid"/>
          </a:ln>
        </p:spPr>
      </p:sp>
      <p:sp>
        <p:nvSpPr>
          <p:cNvPr id="77" name="Text 75"/>
          <p:cNvSpPr/>
          <p:nvPr/>
        </p:nvSpPr>
        <p:spPr>
          <a:xfrm>
            <a:off x="256032" y="3456432"/>
            <a:ext cx="173736" cy="420624"/>
          </a:xfrm>
          <a:prstGeom prst="rect">
            <a:avLst/>
          </a:prstGeom>
          <a:noFill/>
          <a:ln/>
        </p:spPr>
        <p:txBody>
          <a:bodyPr wrap="square" rtlCol="0" anchor="ctr"/>
          <a:lstStyle/>
          <a:p>
            <a:pPr marL="0" indent="0" algn="ctr">
              <a:buNone/>
            </a:pPr>
            <a:r>
              <a:rPr lang="en-US" sz="1000" dirty="0">
                <a:solidFill>
                  <a:srgbClr val="D0E4EE"/>
                </a:solidFill>
                <a:latin typeface="Calibri" pitchFamily="34" charset="0"/>
                <a:ea typeface="Calibri" pitchFamily="34" charset="-122"/>
                <a:cs typeface="Calibri" pitchFamily="34" charset="-120"/>
              </a:rPr>
              <a:t>6</a:t>
            </a:r>
            <a:endParaRPr lang="en-US" sz="1000" dirty="0"/>
          </a:p>
        </p:txBody>
      </p:sp>
      <p:sp>
        <p:nvSpPr>
          <p:cNvPr id="78" name="Shape 76"/>
          <p:cNvSpPr/>
          <p:nvPr/>
        </p:nvSpPr>
        <p:spPr>
          <a:xfrm>
            <a:off x="457200" y="3456432"/>
            <a:ext cx="2743200" cy="420624"/>
          </a:xfrm>
          <a:prstGeom prst="rect">
            <a:avLst/>
          </a:prstGeom>
          <a:solidFill>
            <a:srgbClr val="0A1F2D"/>
          </a:solidFill>
          <a:ln w="6350">
            <a:solidFill>
              <a:srgbClr val="1C7293"/>
            </a:solidFill>
            <a:prstDash val="solid"/>
          </a:ln>
        </p:spPr>
      </p:sp>
      <p:sp>
        <p:nvSpPr>
          <p:cNvPr id="79" name="Text 77"/>
          <p:cNvSpPr/>
          <p:nvPr/>
        </p:nvSpPr>
        <p:spPr>
          <a:xfrm>
            <a:off x="484632" y="3456432"/>
            <a:ext cx="26883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Double refund attempt</a:t>
            </a:r>
            <a:endParaRPr lang="en-US" sz="1000" dirty="0"/>
          </a:p>
        </p:txBody>
      </p:sp>
      <p:sp>
        <p:nvSpPr>
          <p:cNvPr id="80" name="Shape 78"/>
          <p:cNvSpPr/>
          <p:nvPr/>
        </p:nvSpPr>
        <p:spPr>
          <a:xfrm>
            <a:off x="3200400" y="3456432"/>
            <a:ext cx="1417320" cy="420624"/>
          </a:xfrm>
          <a:prstGeom prst="rect">
            <a:avLst/>
          </a:prstGeom>
          <a:solidFill>
            <a:srgbClr val="0A1F2D"/>
          </a:solidFill>
          <a:ln w="6350">
            <a:solidFill>
              <a:srgbClr val="1C7293"/>
            </a:solidFill>
            <a:prstDash val="solid"/>
          </a:ln>
        </p:spPr>
      </p:sp>
      <p:sp>
        <p:nvSpPr>
          <p:cNvPr id="81" name="Text 79"/>
          <p:cNvSpPr/>
          <p:nvPr/>
        </p:nvSpPr>
        <p:spPr>
          <a:xfrm>
            <a:off x="3227832" y="3456432"/>
            <a:ext cx="136245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refund() ×2</a:t>
            </a:r>
            <a:endParaRPr lang="en-US" sz="1000" dirty="0"/>
          </a:p>
        </p:txBody>
      </p:sp>
      <p:sp>
        <p:nvSpPr>
          <p:cNvPr id="82" name="Shape 80"/>
          <p:cNvSpPr/>
          <p:nvPr/>
        </p:nvSpPr>
        <p:spPr>
          <a:xfrm>
            <a:off x="4617720" y="3456432"/>
            <a:ext cx="1965960" cy="420624"/>
          </a:xfrm>
          <a:prstGeom prst="rect">
            <a:avLst/>
          </a:prstGeom>
          <a:solidFill>
            <a:srgbClr val="0A1F2D"/>
          </a:solidFill>
          <a:ln w="6350">
            <a:solidFill>
              <a:srgbClr val="1C7293"/>
            </a:solidFill>
            <a:prstDash val="solid"/>
          </a:ln>
        </p:spPr>
      </p:sp>
      <p:sp>
        <p:nvSpPr>
          <p:cNvPr id="83" name="Text 81"/>
          <p:cNvSpPr/>
          <p:nvPr/>
        </p:nvSpPr>
        <p:spPr>
          <a:xfrm>
            <a:off x="4645152" y="3456432"/>
            <a:ext cx="191109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2nd revert: Already refunded</a:t>
            </a:r>
            <a:endParaRPr lang="en-US" sz="1000" dirty="0"/>
          </a:p>
        </p:txBody>
      </p:sp>
      <p:sp>
        <p:nvSpPr>
          <p:cNvPr id="84" name="Shape 82"/>
          <p:cNvSpPr/>
          <p:nvPr/>
        </p:nvSpPr>
        <p:spPr>
          <a:xfrm>
            <a:off x="6583680" y="3456432"/>
            <a:ext cx="1828800" cy="420624"/>
          </a:xfrm>
          <a:prstGeom prst="rect">
            <a:avLst/>
          </a:prstGeom>
          <a:solidFill>
            <a:srgbClr val="0A1F2D"/>
          </a:solidFill>
          <a:ln w="6350">
            <a:solidFill>
              <a:srgbClr val="1C7293"/>
            </a:solidFill>
            <a:prstDash val="solid"/>
          </a:ln>
        </p:spPr>
      </p:sp>
      <p:sp>
        <p:nvSpPr>
          <p:cNvPr id="85" name="Text 83"/>
          <p:cNvSpPr/>
          <p:nvPr/>
        </p:nvSpPr>
        <p:spPr>
          <a:xfrm>
            <a:off x="6611112" y="3456432"/>
            <a:ext cx="17739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Reverted ✅</a:t>
            </a:r>
            <a:endParaRPr lang="en-US" sz="1000" dirty="0"/>
          </a:p>
        </p:txBody>
      </p:sp>
      <p:sp>
        <p:nvSpPr>
          <p:cNvPr id="86" name="Shape 84"/>
          <p:cNvSpPr/>
          <p:nvPr/>
        </p:nvSpPr>
        <p:spPr>
          <a:xfrm>
            <a:off x="8412480" y="3456432"/>
            <a:ext cx="731520" cy="420624"/>
          </a:xfrm>
          <a:prstGeom prst="rect">
            <a:avLst/>
          </a:prstGeom>
          <a:solidFill>
            <a:srgbClr val="0A1F2D"/>
          </a:solidFill>
          <a:ln w="6350">
            <a:solidFill>
              <a:srgbClr val="1C7293"/>
            </a:solidFill>
            <a:prstDash val="solid"/>
          </a:ln>
        </p:spPr>
      </p:sp>
      <p:sp>
        <p:nvSpPr>
          <p:cNvPr id="87" name="Text 85"/>
          <p:cNvSpPr/>
          <p:nvPr/>
        </p:nvSpPr>
        <p:spPr>
          <a:xfrm>
            <a:off x="8439912" y="3456432"/>
            <a:ext cx="676656" cy="420624"/>
          </a:xfrm>
          <a:prstGeom prst="rect">
            <a:avLst/>
          </a:prstGeom>
          <a:noFill/>
          <a:ln/>
        </p:spPr>
        <p:txBody>
          <a:bodyPr wrap="square" rtlCol="0" anchor="ctr"/>
          <a:lstStyle/>
          <a:p>
            <a:pPr marL="0" indent="0" algn="ctr">
              <a:buNone/>
            </a:pPr>
            <a:r>
              <a:rPr lang="en-US" sz="1400" dirty="0">
                <a:solidFill>
                  <a:srgbClr val="21A0C1"/>
                </a:solidFill>
                <a:latin typeface="Calibri" pitchFamily="34" charset="0"/>
                <a:ea typeface="Calibri" pitchFamily="34" charset="-122"/>
                <a:cs typeface="Calibri" pitchFamily="34" charset="-120"/>
              </a:rPr>
              <a:t>✅</a:t>
            </a:r>
            <a:endParaRPr lang="en-US" sz="1400" dirty="0"/>
          </a:p>
        </p:txBody>
      </p:sp>
      <p:sp>
        <p:nvSpPr>
          <p:cNvPr id="88" name="Shape 86"/>
          <p:cNvSpPr/>
          <p:nvPr/>
        </p:nvSpPr>
        <p:spPr>
          <a:xfrm>
            <a:off x="228600" y="3895344"/>
            <a:ext cx="228600" cy="420624"/>
          </a:xfrm>
          <a:prstGeom prst="rect">
            <a:avLst/>
          </a:prstGeom>
          <a:solidFill>
            <a:srgbClr val="0D2B3D"/>
          </a:solidFill>
          <a:ln w="6350">
            <a:solidFill>
              <a:srgbClr val="1C7293"/>
            </a:solidFill>
            <a:prstDash val="solid"/>
          </a:ln>
        </p:spPr>
      </p:sp>
      <p:sp>
        <p:nvSpPr>
          <p:cNvPr id="89" name="Text 87"/>
          <p:cNvSpPr/>
          <p:nvPr/>
        </p:nvSpPr>
        <p:spPr>
          <a:xfrm>
            <a:off x="256032" y="3895344"/>
            <a:ext cx="173736" cy="420624"/>
          </a:xfrm>
          <a:prstGeom prst="rect">
            <a:avLst/>
          </a:prstGeom>
          <a:noFill/>
          <a:ln/>
        </p:spPr>
        <p:txBody>
          <a:bodyPr wrap="square" rtlCol="0" anchor="ctr"/>
          <a:lstStyle/>
          <a:p>
            <a:pPr marL="0" indent="0" algn="ctr">
              <a:buNone/>
            </a:pPr>
            <a:r>
              <a:rPr lang="en-US" sz="1000" dirty="0">
                <a:solidFill>
                  <a:srgbClr val="D0E4EE"/>
                </a:solidFill>
                <a:latin typeface="Calibri" pitchFamily="34" charset="0"/>
                <a:ea typeface="Calibri" pitchFamily="34" charset="-122"/>
                <a:cs typeface="Calibri" pitchFamily="34" charset="-120"/>
              </a:rPr>
              <a:t>7</a:t>
            </a:r>
            <a:endParaRPr lang="en-US" sz="1000" dirty="0"/>
          </a:p>
        </p:txBody>
      </p:sp>
      <p:sp>
        <p:nvSpPr>
          <p:cNvPr id="90" name="Shape 88"/>
          <p:cNvSpPr/>
          <p:nvPr/>
        </p:nvSpPr>
        <p:spPr>
          <a:xfrm>
            <a:off x="457200" y="3895344"/>
            <a:ext cx="2743200" cy="420624"/>
          </a:xfrm>
          <a:prstGeom prst="rect">
            <a:avLst/>
          </a:prstGeom>
          <a:solidFill>
            <a:srgbClr val="0D2B3D"/>
          </a:solidFill>
          <a:ln w="6350">
            <a:solidFill>
              <a:srgbClr val="1C7293"/>
            </a:solidFill>
            <a:prstDash val="solid"/>
          </a:ln>
        </p:spPr>
      </p:sp>
      <p:sp>
        <p:nvSpPr>
          <p:cNvPr id="91" name="Text 89"/>
          <p:cNvSpPr/>
          <p:nvPr/>
        </p:nvSpPr>
        <p:spPr>
          <a:xfrm>
            <a:off x="484632" y="3895344"/>
            <a:ext cx="26883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Refund when goal met</a:t>
            </a:r>
            <a:endParaRPr lang="en-US" sz="1000" dirty="0"/>
          </a:p>
        </p:txBody>
      </p:sp>
      <p:sp>
        <p:nvSpPr>
          <p:cNvPr id="92" name="Shape 90"/>
          <p:cNvSpPr/>
          <p:nvPr/>
        </p:nvSpPr>
        <p:spPr>
          <a:xfrm>
            <a:off x="3200400" y="3895344"/>
            <a:ext cx="1417320" cy="420624"/>
          </a:xfrm>
          <a:prstGeom prst="rect">
            <a:avLst/>
          </a:prstGeom>
          <a:solidFill>
            <a:srgbClr val="0D2B3D"/>
          </a:solidFill>
          <a:ln w="6350">
            <a:solidFill>
              <a:srgbClr val="1C7293"/>
            </a:solidFill>
            <a:prstDash val="solid"/>
          </a:ln>
        </p:spPr>
      </p:sp>
      <p:sp>
        <p:nvSpPr>
          <p:cNvPr id="93" name="Text 91"/>
          <p:cNvSpPr/>
          <p:nvPr/>
        </p:nvSpPr>
        <p:spPr>
          <a:xfrm>
            <a:off x="3227832" y="3895344"/>
            <a:ext cx="136245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refund()</a:t>
            </a:r>
            <a:endParaRPr lang="en-US" sz="1000" dirty="0"/>
          </a:p>
        </p:txBody>
      </p:sp>
      <p:sp>
        <p:nvSpPr>
          <p:cNvPr id="94" name="Shape 92"/>
          <p:cNvSpPr/>
          <p:nvPr/>
        </p:nvSpPr>
        <p:spPr>
          <a:xfrm>
            <a:off x="4617720" y="3895344"/>
            <a:ext cx="1965960" cy="420624"/>
          </a:xfrm>
          <a:prstGeom prst="rect">
            <a:avLst/>
          </a:prstGeom>
          <a:solidFill>
            <a:srgbClr val="0D2B3D"/>
          </a:solidFill>
          <a:ln w="6350">
            <a:solidFill>
              <a:srgbClr val="1C7293"/>
            </a:solidFill>
            <a:prstDash val="solid"/>
          </a:ln>
        </p:spPr>
      </p:sp>
      <p:sp>
        <p:nvSpPr>
          <p:cNvPr id="95" name="Text 93"/>
          <p:cNvSpPr/>
          <p:nvPr/>
        </p:nvSpPr>
        <p:spPr>
          <a:xfrm>
            <a:off x="4645152" y="3895344"/>
            <a:ext cx="191109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Revert: Goal reached</a:t>
            </a:r>
            <a:endParaRPr lang="en-US" sz="1000" dirty="0"/>
          </a:p>
        </p:txBody>
      </p:sp>
      <p:sp>
        <p:nvSpPr>
          <p:cNvPr id="96" name="Shape 94"/>
          <p:cNvSpPr/>
          <p:nvPr/>
        </p:nvSpPr>
        <p:spPr>
          <a:xfrm>
            <a:off x="6583680" y="3895344"/>
            <a:ext cx="1828800" cy="420624"/>
          </a:xfrm>
          <a:prstGeom prst="rect">
            <a:avLst/>
          </a:prstGeom>
          <a:solidFill>
            <a:srgbClr val="0D2B3D"/>
          </a:solidFill>
          <a:ln w="6350">
            <a:solidFill>
              <a:srgbClr val="1C7293"/>
            </a:solidFill>
            <a:prstDash val="solid"/>
          </a:ln>
        </p:spPr>
      </p:sp>
      <p:sp>
        <p:nvSpPr>
          <p:cNvPr id="97" name="Text 95"/>
          <p:cNvSpPr/>
          <p:nvPr/>
        </p:nvSpPr>
        <p:spPr>
          <a:xfrm>
            <a:off x="6611112" y="3895344"/>
            <a:ext cx="17739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Reverted ✅</a:t>
            </a:r>
            <a:endParaRPr lang="en-US" sz="1000" dirty="0"/>
          </a:p>
        </p:txBody>
      </p:sp>
      <p:sp>
        <p:nvSpPr>
          <p:cNvPr id="98" name="Shape 96"/>
          <p:cNvSpPr/>
          <p:nvPr/>
        </p:nvSpPr>
        <p:spPr>
          <a:xfrm>
            <a:off x="8412480" y="3895344"/>
            <a:ext cx="731520" cy="420624"/>
          </a:xfrm>
          <a:prstGeom prst="rect">
            <a:avLst/>
          </a:prstGeom>
          <a:solidFill>
            <a:srgbClr val="0D2B3D"/>
          </a:solidFill>
          <a:ln w="6350">
            <a:solidFill>
              <a:srgbClr val="1C7293"/>
            </a:solidFill>
            <a:prstDash val="solid"/>
          </a:ln>
        </p:spPr>
      </p:sp>
      <p:sp>
        <p:nvSpPr>
          <p:cNvPr id="99" name="Text 97"/>
          <p:cNvSpPr/>
          <p:nvPr/>
        </p:nvSpPr>
        <p:spPr>
          <a:xfrm>
            <a:off x="8439912" y="3895344"/>
            <a:ext cx="676656" cy="420624"/>
          </a:xfrm>
          <a:prstGeom prst="rect">
            <a:avLst/>
          </a:prstGeom>
          <a:noFill/>
          <a:ln/>
        </p:spPr>
        <p:txBody>
          <a:bodyPr wrap="square" rtlCol="0" anchor="ctr"/>
          <a:lstStyle/>
          <a:p>
            <a:pPr marL="0" indent="0" algn="ctr">
              <a:buNone/>
            </a:pPr>
            <a:r>
              <a:rPr lang="en-US" sz="1400" dirty="0">
                <a:solidFill>
                  <a:srgbClr val="21A0C1"/>
                </a:solidFill>
                <a:latin typeface="Calibri" pitchFamily="34" charset="0"/>
                <a:ea typeface="Calibri" pitchFamily="34" charset="-122"/>
                <a:cs typeface="Calibri" pitchFamily="34" charset="-120"/>
              </a:rPr>
              <a:t>✅</a:t>
            </a:r>
            <a:endParaRPr lang="en-US" sz="1400" dirty="0"/>
          </a:p>
        </p:txBody>
      </p:sp>
      <p:sp>
        <p:nvSpPr>
          <p:cNvPr id="100" name="Shape 98"/>
          <p:cNvSpPr/>
          <p:nvPr/>
        </p:nvSpPr>
        <p:spPr>
          <a:xfrm>
            <a:off x="228600" y="4334256"/>
            <a:ext cx="228600" cy="420624"/>
          </a:xfrm>
          <a:prstGeom prst="rect">
            <a:avLst/>
          </a:prstGeom>
          <a:solidFill>
            <a:srgbClr val="0A1F2D"/>
          </a:solidFill>
          <a:ln w="6350">
            <a:solidFill>
              <a:srgbClr val="1C7293"/>
            </a:solidFill>
            <a:prstDash val="solid"/>
          </a:ln>
        </p:spPr>
      </p:sp>
      <p:sp>
        <p:nvSpPr>
          <p:cNvPr id="101" name="Text 99"/>
          <p:cNvSpPr/>
          <p:nvPr/>
        </p:nvSpPr>
        <p:spPr>
          <a:xfrm>
            <a:off x="256032" y="4334256"/>
            <a:ext cx="173736" cy="420624"/>
          </a:xfrm>
          <a:prstGeom prst="rect">
            <a:avLst/>
          </a:prstGeom>
          <a:noFill/>
          <a:ln/>
        </p:spPr>
        <p:txBody>
          <a:bodyPr wrap="square" rtlCol="0" anchor="ctr"/>
          <a:lstStyle/>
          <a:p>
            <a:pPr marL="0" indent="0" algn="ctr">
              <a:buNone/>
            </a:pPr>
            <a:r>
              <a:rPr lang="en-US" sz="1000" dirty="0">
                <a:solidFill>
                  <a:srgbClr val="D0E4EE"/>
                </a:solidFill>
                <a:latin typeface="Calibri" pitchFamily="34" charset="0"/>
                <a:ea typeface="Calibri" pitchFamily="34" charset="-122"/>
                <a:cs typeface="Calibri" pitchFamily="34" charset="-120"/>
              </a:rPr>
              <a:t>8</a:t>
            </a:r>
            <a:endParaRPr lang="en-US" sz="1000" dirty="0"/>
          </a:p>
        </p:txBody>
      </p:sp>
      <p:sp>
        <p:nvSpPr>
          <p:cNvPr id="102" name="Shape 100"/>
          <p:cNvSpPr/>
          <p:nvPr/>
        </p:nvSpPr>
        <p:spPr>
          <a:xfrm>
            <a:off x="457200" y="4334256"/>
            <a:ext cx="2743200" cy="420624"/>
          </a:xfrm>
          <a:prstGeom prst="rect">
            <a:avLst/>
          </a:prstGeom>
          <a:solidFill>
            <a:srgbClr val="0A1F2D"/>
          </a:solidFill>
          <a:ln w="6350">
            <a:solidFill>
              <a:srgbClr val="1C7293"/>
            </a:solidFill>
            <a:prstDash val="solid"/>
          </a:ln>
        </p:spPr>
      </p:sp>
      <p:sp>
        <p:nvSpPr>
          <p:cNvPr id="103" name="Text 101"/>
          <p:cNvSpPr/>
          <p:nvPr/>
        </p:nvSpPr>
        <p:spPr>
          <a:xfrm>
            <a:off x="484632" y="4334256"/>
            <a:ext cx="26883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Double withdrawal</a:t>
            </a:r>
            <a:endParaRPr lang="en-US" sz="1000" dirty="0"/>
          </a:p>
        </p:txBody>
      </p:sp>
      <p:sp>
        <p:nvSpPr>
          <p:cNvPr id="104" name="Shape 102"/>
          <p:cNvSpPr/>
          <p:nvPr/>
        </p:nvSpPr>
        <p:spPr>
          <a:xfrm>
            <a:off x="3200400" y="4334256"/>
            <a:ext cx="1417320" cy="420624"/>
          </a:xfrm>
          <a:prstGeom prst="rect">
            <a:avLst/>
          </a:prstGeom>
          <a:solidFill>
            <a:srgbClr val="0A1F2D"/>
          </a:solidFill>
          <a:ln w="6350">
            <a:solidFill>
              <a:srgbClr val="1C7293"/>
            </a:solidFill>
            <a:prstDash val="solid"/>
          </a:ln>
        </p:spPr>
      </p:sp>
      <p:sp>
        <p:nvSpPr>
          <p:cNvPr id="105" name="Text 103"/>
          <p:cNvSpPr/>
          <p:nvPr/>
        </p:nvSpPr>
        <p:spPr>
          <a:xfrm>
            <a:off x="3227832" y="4334256"/>
            <a:ext cx="136245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withdraw() ×2</a:t>
            </a:r>
            <a:endParaRPr lang="en-US" sz="1000" dirty="0"/>
          </a:p>
        </p:txBody>
      </p:sp>
      <p:sp>
        <p:nvSpPr>
          <p:cNvPr id="106" name="Shape 104"/>
          <p:cNvSpPr/>
          <p:nvPr/>
        </p:nvSpPr>
        <p:spPr>
          <a:xfrm>
            <a:off x="4617720" y="4334256"/>
            <a:ext cx="1965960" cy="420624"/>
          </a:xfrm>
          <a:prstGeom prst="rect">
            <a:avLst/>
          </a:prstGeom>
          <a:solidFill>
            <a:srgbClr val="0A1F2D"/>
          </a:solidFill>
          <a:ln w="6350">
            <a:solidFill>
              <a:srgbClr val="1C7293"/>
            </a:solidFill>
            <a:prstDash val="solid"/>
          </a:ln>
        </p:spPr>
      </p:sp>
      <p:sp>
        <p:nvSpPr>
          <p:cNvPr id="107" name="Text 105"/>
          <p:cNvSpPr/>
          <p:nvPr/>
        </p:nvSpPr>
        <p:spPr>
          <a:xfrm>
            <a:off x="4645152" y="4334256"/>
            <a:ext cx="191109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2nd revert: Already withdrawn</a:t>
            </a:r>
            <a:endParaRPr lang="en-US" sz="1000" dirty="0"/>
          </a:p>
        </p:txBody>
      </p:sp>
      <p:sp>
        <p:nvSpPr>
          <p:cNvPr id="108" name="Shape 106"/>
          <p:cNvSpPr/>
          <p:nvPr/>
        </p:nvSpPr>
        <p:spPr>
          <a:xfrm>
            <a:off x="6583680" y="4334256"/>
            <a:ext cx="1828800" cy="420624"/>
          </a:xfrm>
          <a:prstGeom prst="rect">
            <a:avLst/>
          </a:prstGeom>
          <a:solidFill>
            <a:srgbClr val="0A1F2D"/>
          </a:solidFill>
          <a:ln w="6350">
            <a:solidFill>
              <a:srgbClr val="1C7293"/>
            </a:solidFill>
            <a:prstDash val="solid"/>
          </a:ln>
        </p:spPr>
      </p:sp>
      <p:sp>
        <p:nvSpPr>
          <p:cNvPr id="109" name="Text 107"/>
          <p:cNvSpPr/>
          <p:nvPr/>
        </p:nvSpPr>
        <p:spPr>
          <a:xfrm>
            <a:off x="6611112" y="4334256"/>
            <a:ext cx="1773936" cy="420624"/>
          </a:xfrm>
          <a:prstGeom prst="rect">
            <a:avLst/>
          </a:prstGeom>
          <a:noFill/>
          <a:ln/>
        </p:spPr>
        <p:txBody>
          <a:bodyPr wrap="square" rtlCol="0" anchor="ctr"/>
          <a:lstStyle/>
          <a:p>
            <a:pPr marL="0" indent="0" algn="l">
              <a:buNone/>
            </a:pPr>
            <a:r>
              <a:rPr lang="en-US" sz="1000" dirty="0">
                <a:solidFill>
                  <a:srgbClr val="D0E4EE"/>
                </a:solidFill>
                <a:latin typeface="Calibri" pitchFamily="34" charset="0"/>
                <a:ea typeface="Calibri" pitchFamily="34" charset="-122"/>
                <a:cs typeface="Calibri" pitchFamily="34" charset="-120"/>
              </a:rPr>
              <a:t>Reverted ✅</a:t>
            </a:r>
            <a:endParaRPr lang="en-US" sz="1000" dirty="0"/>
          </a:p>
        </p:txBody>
      </p:sp>
      <p:sp>
        <p:nvSpPr>
          <p:cNvPr id="110" name="Shape 108"/>
          <p:cNvSpPr/>
          <p:nvPr/>
        </p:nvSpPr>
        <p:spPr>
          <a:xfrm>
            <a:off x="8412480" y="4334256"/>
            <a:ext cx="731520" cy="420624"/>
          </a:xfrm>
          <a:prstGeom prst="rect">
            <a:avLst/>
          </a:prstGeom>
          <a:solidFill>
            <a:srgbClr val="0A1F2D"/>
          </a:solidFill>
          <a:ln w="6350">
            <a:solidFill>
              <a:srgbClr val="1C7293"/>
            </a:solidFill>
            <a:prstDash val="solid"/>
          </a:ln>
        </p:spPr>
      </p:sp>
      <p:sp>
        <p:nvSpPr>
          <p:cNvPr id="111" name="Text 109"/>
          <p:cNvSpPr/>
          <p:nvPr/>
        </p:nvSpPr>
        <p:spPr>
          <a:xfrm>
            <a:off x="8439912" y="4334256"/>
            <a:ext cx="676656" cy="420624"/>
          </a:xfrm>
          <a:prstGeom prst="rect">
            <a:avLst/>
          </a:prstGeom>
          <a:noFill/>
          <a:ln/>
        </p:spPr>
        <p:txBody>
          <a:bodyPr wrap="square" rtlCol="0" anchor="ctr"/>
          <a:lstStyle/>
          <a:p>
            <a:pPr marL="0" indent="0" algn="ctr">
              <a:buNone/>
            </a:pPr>
            <a:r>
              <a:rPr lang="en-US" sz="1400" dirty="0">
                <a:solidFill>
                  <a:srgbClr val="21A0C1"/>
                </a:solidFill>
                <a:latin typeface="Calibri" pitchFamily="34" charset="0"/>
                <a:ea typeface="Calibri" pitchFamily="34" charset="-122"/>
                <a:cs typeface="Calibri" pitchFamily="34" charset="-120"/>
              </a:rPr>
              <a:t>✅</a:t>
            </a:r>
            <a:endParaRPr lang="en-US" sz="1400" dirty="0"/>
          </a:p>
        </p:txBody>
      </p:sp>
      <p:sp>
        <p:nvSpPr>
          <p:cNvPr id="112" name="Text 110"/>
          <p:cNvSpPr/>
          <p:nvPr/>
        </p:nvSpPr>
        <p:spPr>
          <a:xfrm>
            <a:off x="228600" y="4773168"/>
            <a:ext cx="8686800" cy="274320"/>
          </a:xfrm>
          <a:prstGeom prst="rect">
            <a:avLst/>
          </a:prstGeom>
          <a:noFill/>
          <a:ln/>
        </p:spPr>
        <p:txBody>
          <a:bodyPr wrap="square" rtlCol="0" anchor="ctr"/>
          <a:lstStyle/>
          <a:p>
            <a:pPr marL="0" indent="0" algn="ctr">
              <a:buNone/>
            </a:pPr>
            <a:r>
              <a:rPr lang="en-US" sz="1200" b="1" dirty="0">
                <a:solidFill>
                  <a:srgbClr val="21A0C1"/>
                </a:solidFill>
                <a:latin typeface="Calibri" pitchFamily="34" charset="0"/>
                <a:ea typeface="Calibri" pitchFamily="34" charset="-122"/>
                <a:cs typeface="Calibri" pitchFamily="34" charset="-120"/>
              </a:rPr>
              <a:t>11 total test cases — All passed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C7293"/>
          </a:solidFill>
          <a:ln/>
        </p:spPr>
      </p:sp>
      <p:sp>
        <p:nvSpPr>
          <p:cNvPr id="3" name="Text 1"/>
          <p:cNvSpPr/>
          <p:nvPr/>
        </p:nvSpPr>
        <p:spPr>
          <a:xfrm>
            <a:off x="365760" y="0"/>
            <a:ext cx="8229600" cy="7772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 &amp; Future Work</a:t>
            </a:r>
            <a:endParaRPr lang="en-US" sz="2800" dirty="0"/>
          </a:p>
        </p:txBody>
      </p:sp>
      <p:sp>
        <p:nvSpPr>
          <p:cNvPr id="4" name="Shape 2"/>
          <p:cNvSpPr/>
          <p:nvPr/>
        </p:nvSpPr>
        <p:spPr>
          <a:xfrm>
            <a:off x="274320" y="960120"/>
            <a:ext cx="8595360" cy="1280160"/>
          </a:xfrm>
          <a:prstGeom prst="rect">
            <a:avLst/>
          </a:prstGeom>
          <a:solidFill>
            <a:srgbClr val="065A82"/>
          </a:solidFill>
          <a:ln/>
          <a:effectLst>
            <a:outerShdw blurRad="101600" dist="38100" dir="8100000" algn="bl" rotWithShape="0">
              <a:srgbClr val="000000">
                <a:alpha val="18000"/>
              </a:srgbClr>
            </a:outerShdw>
          </a:effectLst>
        </p:spPr>
      </p:sp>
      <p:sp>
        <p:nvSpPr>
          <p:cNvPr id="5" name="Text 3"/>
          <p:cNvSpPr/>
          <p:nvPr/>
        </p:nvSpPr>
        <p:spPr>
          <a:xfrm>
            <a:off x="457200" y="960120"/>
            <a:ext cx="8229600" cy="128016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EduChain proves that a single Solidity contract can replace a centralized crowdfunding platform —</a:t>
            </a:r>
            <a:endParaRPr lang="en-US" sz="1400" dirty="0"/>
          </a:p>
          <a:p>
            <a:pPr marL="0" indent="0" algn="ctr">
              <a:buNone/>
            </a:pPr>
            <a:r>
              <a:rPr lang="en-US" sz="1400" dirty="0">
                <a:solidFill>
                  <a:srgbClr val="FFFFFF"/>
                </a:solidFill>
                <a:latin typeface="Calibri" pitchFamily="34" charset="0"/>
                <a:ea typeface="Calibri" pitchFamily="34" charset="-122"/>
                <a:cs typeface="Calibri" pitchFamily="34" charset="-120"/>
              </a:rPr>
              <a:t>delivering transparency, automatic refunds, and tiered rewards without any middleman.</a:t>
            </a:r>
            <a:endParaRPr lang="en-US" sz="1400" dirty="0"/>
          </a:p>
        </p:txBody>
      </p:sp>
      <p:sp>
        <p:nvSpPr>
          <p:cNvPr id="6" name="Text 4"/>
          <p:cNvSpPr/>
          <p:nvPr/>
        </p:nvSpPr>
        <p:spPr>
          <a:xfrm>
            <a:off x="548640" y="2423160"/>
            <a:ext cx="4114800" cy="320040"/>
          </a:xfrm>
          <a:prstGeom prst="rect">
            <a:avLst/>
          </a:prstGeom>
          <a:noFill/>
          <a:ln/>
        </p:spPr>
        <p:txBody>
          <a:bodyPr wrap="square" rtlCol="0" anchor="ctr"/>
          <a:lstStyle/>
          <a:p>
            <a:pPr marL="0" indent="0">
              <a:buNone/>
            </a:pPr>
            <a:r>
              <a:rPr lang="en-US" sz="1300" dirty="0">
                <a:solidFill>
                  <a:srgbClr val="D0E4EE"/>
                </a:solidFill>
                <a:latin typeface="Calibri" pitchFamily="34" charset="0"/>
                <a:ea typeface="Calibri" pitchFamily="34" charset="-122"/>
                <a:cs typeface="Calibri" pitchFamily="34" charset="-120"/>
              </a:rPr>
              <a:t>✅  struct, mapping, modifier, events — all implemented</a:t>
            </a:r>
            <a:endParaRPr lang="en-US" sz="1300" dirty="0"/>
          </a:p>
        </p:txBody>
      </p:sp>
      <p:sp>
        <p:nvSpPr>
          <p:cNvPr id="7" name="Text 5"/>
          <p:cNvSpPr/>
          <p:nvPr/>
        </p:nvSpPr>
        <p:spPr>
          <a:xfrm>
            <a:off x="548640" y="2770632"/>
            <a:ext cx="4114800" cy="320040"/>
          </a:xfrm>
          <a:prstGeom prst="rect">
            <a:avLst/>
          </a:prstGeom>
          <a:noFill/>
          <a:ln/>
        </p:spPr>
        <p:txBody>
          <a:bodyPr wrap="square" rtlCol="0" anchor="ctr"/>
          <a:lstStyle/>
          <a:p>
            <a:pPr marL="0" indent="0">
              <a:buNone/>
            </a:pPr>
            <a:r>
              <a:rPr lang="en-US" sz="1300" dirty="0">
                <a:solidFill>
                  <a:srgbClr val="D0E4EE"/>
                </a:solidFill>
                <a:latin typeface="Calibri" pitchFamily="34" charset="0"/>
                <a:ea typeface="Calibri" pitchFamily="34" charset="-122"/>
                <a:cs typeface="Calibri" pitchFamily="34" charset="-120"/>
              </a:rPr>
              <a:t>✅  Tiered reward system (Learner / Mentor / Founder)</a:t>
            </a:r>
            <a:endParaRPr lang="en-US" sz="1300" dirty="0"/>
          </a:p>
        </p:txBody>
      </p:sp>
      <p:sp>
        <p:nvSpPr>
          <p:cNvPr id="8" name="Text 6"/>
          <p:cNvSpPr/>
          <p:nvPr/>
        </p:nvSpPr>
        <p:spPr>
          <a:xfrm>
            <a:off x="548640" y="3118104"/>
            <a:ext cx="4114800" cy="320040"/>
          </a:xfrm>
          <a:prstGeom prst="rect">
            <a:avLst/>
          </a:prstGeom>
          <a:noFill/>
          <a:ln/>
        </p:spPr>
        <p:txBody>
          <a:bodyPr wrap="square" rtlCol="0" anchor="ctr"/>
          <a:lstStyle/>
          <a:p>
            <a:pPr marL="0" indent="0">
              <a:buNone/>
            </a:pPr>
            <a:r>
              <a:rPr lang="en-US" sz="1300" dirty="0">
                <a:solidFill>
                  <a:srgbClr val="D0E4EE"/>
                </a:solidFill>
                <a:latin typeface="Calibri" pitchFamily="34" charset="0"/>
                <a:ea typeface="Calibri" pitchFamily="34" charset="-122"/>
                <a:cs typeface="Calibri" pitchFamily="34" charset="-120"/>
              </a:rPr>
              <a:t>✅  CEI pattern prevents reentrancy attacks</a:t>
            </a:r>
            <a:endParaRPr lang="en-US" sz="1300" dirty="0"/>
          </a:p>
        </p:txBody>
      </p:sp>
      <p:sp>
        <p:nvSpPr>
          <p:cNvPr id="9" name="Text 7"/>
          <p:cNvSpPr/>
          <p:nvPr/>
        </p:nvSpPr>
        <p:spPr>
          <a:xfrm>
            <a:off x="548640" y="3465576"/>
            <a:ext cx="4114800" cy="320040"/>
          </a:xfrm>
          <a:prstGeom prst="rect">
            <a:avLst/>
          </a:prstGeom>
          <a:noFill/>
          <a:ln/>
        </p:spPr>
        <p:txBody>
          <a:bodyPr wrap="square" rtlCol="0" anchor="ctr"/>
          <a:lstStyle/>
          <a:p>
            <a:pPr marL="0" indent="0">
              <a:buNone/>
            </a:pPr>
            <a:r>
              <a:rPr lang="en-US" sz="1300" dirty="0">
                <a:solidFill>
                  <a:srgbClr val="D0E4EE"/>
                </a:solidFill>
                <a:latin typeface="Calibri" pitchFamily="34" charset="0"/>
                <a:ea typeface="Calibri" pitchFamily="34" charset="-122"/>
                <a:cs typeface="Calibri" pitchFamily="34" charset="-120"/>
              </a:rPr>
              <a:t>✅  Double-refund and double-withdraw protection</a:t>
            </a:r>
            <a:endParaRPr lang="en-US" sz="1300" dirty="0"/>
          </a:p>
        </p:txBody>
      </p:sp>
      <p:sp>
        <p:nvSpPr>
          <p:cNvPr id="10" name="Text 8"/>
          <p:cNvSpPr/>
          <p:nvPr/>
        </p:nvSpPr>
        <p:spPr>
          <a:xfrm>
            <a:off x="548640" y="3813048"/>
            <a:ext cx="4114800" cy="320040"/>
          </a:xfrm>
          <a:prstGeom prst="rect">
            <a:avLst/>
          </a:prstGeom>
          <a:noFill/>
          <a:ln/>
        </p:spPr>
        <p:txBody>
          <a:bodyPr wrap="square" rtlCol="0" anchor="ctr"/>
          <a:lstStyle/>
          <a:p>
            <a:pPr marL="0" indent="0">
              <a:buNone/>
            </a:pPr>
            <a:r>
              <a:rPr lang="en-US" sz="1300" dirty="0">
                <a:solidFill>
                  <a:srgbClr val="D0E4EE"/>
                </a:solidFill>
                <a:latin typeface="Calibri" pitchFamily="34" charset="0"/>
                <a:ea typeface="Calibri" pitchFamily="34" charset="-122"/>
                <a:cs typeface="Calibri" pitchFamily="34" charset="-120"/>
              </a:rPr>
              <a:t>✅  11 test cases — all passed in Remix VM</a:t>
            </a:r>
            <a:endParaRPr lang="en-US" sz="1300" dirty="0"/>
          </a:p>
        </p:txBody>
      </p:sp>
      <p:sp>
        <p:nvSpPr>
          <p:cNvPr id="11" name="Text 9"/>
          <p:cNvSpPr/>
          <p:nvPr/>
        </p:nvSpPr>
        <p:spPr>
          <a:xfrm>
            <a:off x="4937760" y="2331720"/>
            <a:ext cx="3840480" cy="365760"/>
          </a:xfrm>
          <a:prstGeom prst="rect">
            <a:avLst/>
          </a:prstGeom>
          <a:noFill/>
          <a:ln/>
        </p:spPr>
        <p:txBody>
          <a:bodyPr wrap="square" rtlCol="0" anchor="ctr"/>
          <a:lstStyle/>
          <a:p>
            <a:pPr marL="0" indent="0">
              <a:buNone/>
            </a:pPr>
            <a:r>
              <a:rPr lang="en-US" sz="1500" b="1" dirty="0">
                <a:solidFill>
                  <a:srgbClr val="21A0C1"/>
                </a:solidFill>
                <a:latin typeface="Calibri" pitchFamily="34" charset="0"/>
                <a:ea typeface="Calibri" pitchFamily="34" charset="-122"/>
                <a:cs typeface="Calibri" pitchFamily="34" charset="-120"/>
              </a:rPr>
              <a:t>Future Enhancements</a:t>
            </a:r>
            <a:endParaRPr lang="en-US" sz="1500" dirty="0"/>
          </a:p>
        </p:txBody>
      </p:sp>
      <p:sp>
        <p:nvSpPr>
          <p:cNvPr id="12" name="Shape 10"/>
          <p:cNvSpPr/>
          <p:nvPr/>
        </p:nvSpPr>
        <p:spPr>
          <a:xfrm>
            <a:off x="4937760" y="2788920"/>
            <a:ext cx="3840480" cy="365760"/>
          </a:xfrm>
          <a:prstGeom prst="rect">
            <a:avLst/>
          </a:prstGeom>
          <a:solidFill>
            <a:srgbClr val="065A82"/>
          </a:solidFill>
          <a:ln/>
          <a:effectLst>
            <a:outerShdw blurRad="101600" dist="38100" dir="8100000" algn="bl" rotWithShape="0">
              <a:srgbClr val="000000">
                <a:alpha val="18000"/>
              </a:srgbClr>
            </a:outerShdw>
          </a:effectLst>
        </p:spPr>
      </p:sp>
      <p:sp>
        <p:nvSpPr>
          <p:cNvPr id="13" name="Text 11"/>
          <p:cNvSpPr/>
          <p:nvPr/>
        </p:nvSpPr>
        <p:spPr>
          <a:xfrm>
            <a:off x="5029200" y="2788920"/>
            <a:ext cx="365760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Chainlink Price Feeds — USD goal</a:t>
            </a:r>
            <a:endParaRPr lang="en-US" sz="1200" dirty="0"/>
          </a:p>
        </p:txBody>
      </p:sp>
      <p:sp>
        <p:nvSpPr>
          <p:cNvPr id="14" name="Shape 12"/>
          <p:cNvSpPr/>
          <p:nvPr/>
        </p:nvSpPr>
        <p:spPr>
          <a:xfrm>
            <a:off x="4937760" y="3227832"/>
            <a:ext cx="3840480" cy="365760"/>
          </a:xfrm>
          <a:prstGeom prst="rect">
            <a:avLst/>
          </a:prstGeom>
          <a:solidFill>
            <a:srgbClr val="065A82"/>
          </a:solidFill>
          <a:ln/>
          <a:effectLst>
            <a:outerShdw blurRad="101600" dist="38100" dir="8100000" algn="bl" rotWithShape="0">
              <a:srgbClr val="000000">
                <a:alpha val="18000"/>
              </a:srgbClr>
            </a:outerShdw>
          </a:effectLst>
        </p:spPr>
      </p:sp>
      <p:sp>
        <p:nvSpPr>
          <p:cNvPr id="15" name="Text 13"/>
          <p:cNvSpPr/>
          <p:nvPr/>
        </p:nvSpPr>
        <p:spPr>
          <a:xfrm>
            <a:off x="5029200" y="3227832"/>
            <a:ext cx="365760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Chainlink Automation — auto-settle</a:t>
            </a:r>
            <a:endParaRPr lang="en-US" sz="1200" dirty="0"/>
          </a:p>
        </p:txBody>
      </p:sp>
      <p:sp>
        <p:nvSpPr>
          <p:cNvPr id="16" name="Shape 14"/>
          <p:cNvSpPr/>
          <p:nvPr/>
        </p:nvSpPr>
        <p:spPr>
          <a:xfrm>
            <a:off x="4937760" y="3666744"/>
            <a:ext cx="3840480" cy="365760"/>
          </a:xfrm>
          <a:prstGeom prst="rect">
            <a:avLst/>
          </a:prstGeom>
          <a:solidFill>
            <a:srgbClr val="065A82"/>
          </a:solidFill>
          <a:ln/>
          <a:effectLst>
            <a:outerShdw blurRad="101600" dist="38100" dir="8100000" algn="bl" rotWithShape="0">
              <a:srgbClr val="000000">
                <a:alpha val="18000"/>
              </a:srgbClr>
            </a:outerShdw>
          </a:effectLst>
        </p:spPr>
      </p:sp>
      <p:sp>
        <p:nvSpPr>
          <p:cNvPr id="17" name="Text 15"/>
          <p:cNvSpPr/>
          <p:nvPr/>
        </p:nvSpPr>
        <p:spPr>
          <a:xfrm>
            <a:off x="5029200" y="3666744"/>
            <a:ext cx="365760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Chainlink VRF — random bonus rewards</a:t>
            </a:r>
            <a:endParaRPr lang="en-US" sz="1200" dirty="0"/>
          </a:p>
        </p:txBody>
      </p:sp>
      <p:sp>
        <p:nvSpPr>
          <p:cNvPr id="18" name="Shape 16"/>
          <p:cNvSpPr/>
          <p:nvPr/>
        </p:nvSpPr>
        <p:spPr>
          <a:xfrm>
            <a:off x="4937760" y="4105656"/>
            <a:ext cx="3840480" cy="365760"/>
          </a:xfrm>
          <a:prstGeom prst="rect">
            <a:avLst/>
          </a:prstGeom>
          <a:solidFill>
            <a:srgbClr val="065A82"/>
          </a:solidFill>
          <a:ln/>
          <a:effectLst>
            <a:outerShdw blurRad="101600" dist="38100" dir="8100000" algn="bl" rotWithShape="0">
              <a:srgbClr val="000000">
                <a:alpha val="18000"/>
              </a:srgbClr>
            </a:outerShdw>
          </a:effectLst>
        </p:spPr>
      </p:sp>
      <p:sp>
        <p:nvSpPr>
          <p:cNvPr id="19" name="Text 17"/>
          <p:cNvSpPr/>
          <p:nvPr/>
        </p:nvSpPr>
        <p:spPr>
          <a:xfrm>
            <a:off x="5029200" y="4105656"/>
            <a:ext cx="3657600" cy="3657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ERC-721 NFTs for tier certificates</a:t>
            </a:r>
            <a:endParaRPr lang="en-US" sz="1200" dirty="0"/>
          </a:p>
        </p:txBody>
      </p:sp>
      <p:sp>
        <p:nvSpPr>
          <p:cNvPr id="20" name="Shape 18"/>
          <p:cNvSpPr/>
          <p:nvPr/>
        </p:nvSpPr>
        <p:spPr>
          <a:xfrm>
            <a:off x="0" y="4846320"/>
            <a:ext cx="9144000" cy="297180"/>
          </a:xfrm>
          <a:prstGeom prst="rect">
            <a:avLst/>
          </a:prstGeom>
          <a:solidFill>
            <a:srgbClr val="1C7293"/>
          </a:solidFill>
          <a:ln/>
        </p:spPr>
      </p:sp>
      <p:sp>
        <p:nvSpPr>
          <p:cNvPr id="21" name="Text 19"/>
          <p:cNvSpPr/>
          <p:nvPr/>
        </p:nvSpPr>
        <p:spPr>
          <a:xfrm>
            <a:off x="0" y="4846320"/>
            <a:ext cx="9144000" cy="2971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Trustless  •  Transparent  •  Refundable  |  Thank you — Questions?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977</Words>
  <Application>Microsoft Office PowerPoint</Application>
  <PresentationFormat>On-screen Show (16:9)</PresentationFormat>
  <Paragraphs>195</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EduChain Crowdfunding</dc:title>
  <dc:subject>PptxGenJS Presentation</dc:subject>
  <dc:creator>Blockchain Course</dc:creator>
  <cp:lastModifiedBy>pc</cp:lastModifiedBy>
  <cp:revision>2</cp:revision>
  <dcterms:created xsi:type="dcterms:W3CDTF">2026-05-07T13:11:13Z</dcterms:created>
  <dcterms:modified xsi:type="dcterms:W3CDTF">2026-05-07T13:55:26Z</dcterms:modified>
</cp:coreProperties>
</file>